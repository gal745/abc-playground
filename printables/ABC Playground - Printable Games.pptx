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906000" cy="6858000" type="A4"/>
  <p:notesSz cx="6858000" cy="9144000"/>
  <p:defaultTextStyle>
    <a:defPPr>
      <a:defRPr lang="en-GB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lang="en-GB" sz="36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>
        <a:buNone/>
        <a:defRPr lang="en-GB" sz="18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>
        <a:defRPr lang="en-GB" sz="18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548640"/>
            <a:ext cx="8988552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600" b="1" dirty="0">
                <a:solidFill>
                  <a:srgbClr val="FF6B6B"/>
                </a:solidFill>
                <a:latin typeface="Comic Sans MS"/>
                <a:ea typeface="Comic Sans MS"/>
                <a:cs typeface="Comic Sans MS"/>
              </a:rPr>
              <a:t>A</a:t>
            </a:r>
            <a:r>
              <a:rPr lang="en-GB" sz="6600" b="1" dirty="0">
                <a:solidFill>
                  <a:srgbClr val="4D96FF"/>
                </a:solidFill>
                <a:latin typeface="Comic Sans MS"/>
                <a:ea typeface="Comic Sans MS"/>
                <a:cs typeface="Comic Sans MS"/>
              </a:rPr>
              <a:t>B</a:t>
            </a:r>
            <a:r>
              <a:rPr lang="en-GB" sz="6600" b="1" dirty="0">
                <a:solidFill>
                  <a:srgbClr val="FFD93D"/>
                </a:solidFill>
                <a:latin typeface="Comic Sans MS"/>
                <a:ea typeface="Comic Sans MS"/>
                <a:cs typeface="Comic Sans MS"/>
              </a:rPr>
              <a:t>C</a:t>
            </a:r>
            <a:r>
              <a:rPr lang="en-GB" sz="66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GB" sz="6600" b="1" dirty="0">
                <a:solidFill>
                  <a:srgbClr val="9B5DE5"/>
                </a:solidFill>
                <a:latin typeface="Comic Sans MS"/>
                <a:ea typeface="Comic Sans MS"/>
                <a:cs typeface="Comic Sans MS"/>
              </a:rPr>
              <a:t>P</a:t>
            </a:r>
            <a:r>
              <a:rPr lang="en-GB" sz="6600" b="1" dirty="0">
                <a:solidFill>
                  <a:srgbClr val="F15BB5"/>
                </a:solidFill>
                <a:latin typeface="Comic Sans MS"/>
                <a:ea typeface="Comic Sans MS"/>
                <a:cs typeface="Comic Sans MS"/>
              </a:rPr>
              <a:t>l</a:t>
            </a:r>
            <a:r>
              <a:rPr lang="en-GB" sz="6600" b="1" dirty="0">
                <a:solidFill>
                  <a:srgbClr val="2A9D8F"/>
                </a:solidFill>
                <a:latin typeface="Comic Sans MS"/>
                <a:ea typeface="Comic Sans MS"/>
                <a:cs typeface="Comic Sans MS"/>
              </a:rPr>
              <a:t>a</a:t>
            </a:r>
            <a:r>
              <a:rPr lang="en-GB" sz="6600" b="1" dirty="0">
                <a:solidFill>
                  <a:srgbClr val="FF6B6B"/>
                </a:solidFill>
                <a:latin typeface="Comic Sans MS"/>
                <a:ea typeface="Comic Sans MS"/>
                <a:cs typeface="Comic Sans MS"/>
              </a:rPr>
              <a:t>y</a:t>
            </a:r>
            <a:r>
              <a:rPr lang="en-GB" sz="6600" b="1" dirty="0">
                <a:solidFill>
                  <a:srgbClr val="4D96FF"/>
                </a:solidFill>
                <a:latin typeface="Comic Sans MS"/>
                <a:ea typeface="Comic Sans MS"/>
                <a:cs typeface="Comic Sans MS"/>
              </a:rPr>
              <a:t>g</a:t>
            </a:r>
            <a:r>
              <a:rPr lang="en-GB" sz="6600" b="1" dirty="0">
                <a:solidFill>
                  <a:srgbClr val="FFD93D"/>
                </a:solidFill>
                <a:latin typeface="Comic Sans MS"/>
                <a:ea typeface="Comic Sans MS"/>
                <a:cs typeface="Comic Sans MS"/>
              </a:rPr>
              <a:t>r</a:t>
            </a:r>
            <a:r>
              <a:rPr lang="en-GB" sz="6600" b="1" dirty="0">
                <a:solidFill>
                  <a:srgbClr val="9B5DE5"/>
                </a:solidFill>
                <a:latin typeface="Comic Sans MS"/>
                <a:ea typeface="Comic Sans MS"/>
                <a:cs typeface="Comic Sans MS"/>
              </a:rPr>
              <a:t>o</a:t>
            </a:r>
            <a:r>
              <a:rPr lang="en-GB" sz="6600" b="1" dirty="0">
                <a:solidFill>
                  <a:srgbClr val="F15BB5"/>
                </a:solidFill>
                <a:latin typeface="Comic Sans MS"/>
                <a:ea typeface="Comic Sans MS"/>
                <a:cs typeface="Comic Sans MS"/>
              </a:rPr>
              <a:t>u</a:t>
            </a:r>
            <a:r>
              <a:rPr lang="en-GB" sz="6600" b="1" dirty="0">
                <a:solidFill>
                  <a:srgbClr val="2A9D8F"/>
                </a:solidFill>
                <a:latin typeface="Comic Sans MS"/>
                <a:ea typeface="Comic Sans MS"/>
                <a:cs typeface="Comic Sans MS"/>
              </a:rPr>
              <a:t>n</a:t>
            </a:r>
            <a:r>
              <a:rPr lang="en-GB" sz="6600" b="1" dirty="0">
                <a:solidFill>
                  <a:srgbClr val="FF6B6B"/>
                </a:solidFill>
                <a:latin typeface="Comic Sans MS"/>
                <a:ea typeface="Comic Sans MS"/>
                <a:cs typeface="Comic Sans MS"/>
              </a:rPr>
              <a:t>d</a:t>
            </a:r>
            <a:endParaRPr lang="en-GB" sz="6600" dirty="0"/>
          </a:p>
        </p:txBody>
      </p:sp>
      <p:sp>
        <p:nvSpPr>
          <p:cNvPr id="3" name="Text 3"/>
          <p:cNvSpPr txBox="1"/>
          <p:nvPr/>
        </p:nvSpPr>
        <p:spPr>
          <a:xfrm>
            <a:off x="457200" y="1783080"/>
            <a:ext cx="898855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0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Printable letter &amp; sound games</a:t>
            </a:r>
            <a:endParaRPr lang="en-GB" sz="2600" dirty="0"/>
          </a:p>
        </p:txBody>
      </p:sp>
      <p:sp>
        <p:nvSpPr>
          <p:cNvPr id="4" name="Game card 4"/>
          <p:cNvSpPr/>
          <p:nvPr/>
        </p:nvSpPr>
        <p:spPr>
          <a:xfrm>
            <a:off x="457200" y="2697480"/>
            <a:ext cx="1600200" cy="2514600"/>
          </a:xfrm>
          <a:prstGeom prst="roundRect">
            <a:avLst>
              <a:gd name="adj" fmla="val 12000"/>
            </a:avLst>
          </a:prstGeom>
          <a:noFill/>
          <a:ln w="38100" cap="rnd">
            <a:solidFill>
              <a:srgbClr val="FF6B6B"/>
            </a:solidFill>
            <a:prstDash val="solid"/>
            <a:round/>
          </a:ln>
        </p:spPr>
      </p:sp>
      <p:sp>
        <p:nvSpPr>
          <p:cNvPr id="5" name="ellipse 5"/>
          <p:cNvSpPr/>
          <p:nvPr/>
        </p:nvSpPr>
        <p:spPr>
          <a:xfrm>
            <a:off x="800100" y="2926080"/>
            <a:ext cx="914400" cy="914400"/>
          </a:xfrm>
          <a:prstGeom prst="ellipse">
            <a:avLst/>
          </a:prstGeom>
          <a:solidFill>
            <a:srgbClr val="FFEDED"/>
          </a:solidFill>
          <a:ln w="31750" cap="rnd">
            <a:solidFill>
              <a:srgbClr val="FF6B6B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0" dirty="0">
                <a:solidFill>
                  <a:srgbClr val="2B2D42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🎈</a:t>
            </a:r>
            <a:endParaRPr lang="en-GB" sz="3200" dirty="0"/>
          </a:p>
        </p:txBody>
      </p:sp>
      <p:sp>
        <p:nvSpPr>
          <p:cNvPr id="6" name="Text 6"/>
          <p:cNvSpPr txBox="1"/>
          <p:nvPr/>
        </p:nvSpPr>
        <p:spPr>
          <a:xfrm>
            <a:off x="502920" y="3959352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FF6B6B"/>
                </a:solidFill>
                <a:latin typeface="Comic Sans MS"/>
                <a:ea typeface="Comic Sans MS"/>
                <a:cs typeface="Comic Sans MS"/>
              </a:rPr>
              <a:t>Balloon Pop</a:t>
            </a:r>
            <a:endParaRPr lang="en-GB" sz="1500" dirty="0"/>
          </a:p>
        </p:txBody>
      </p:sp>
      <p:sp>
        <p:nvSpPr>
          <p:cNvPr id="7" name="Text 7"/>
          <p:cNvSpPr txBox="1"/>
          <p:nvPr/>
        </p:nvSpPr>
        <p:spPr>
          <a:xfrm>
            <a:off x="548640" y="4434840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letters &amp; sounds</a:t>
            </a:r>
            <a:endParaRPr lang="en-GB" sz="1300" dirty="0"/>
          </a:p>
        </p:txBody>
      </p:sp>
      <p:sp>
        <p:nvSpPr>
          <p:cNvPr id="8" name="Game card 8"/>
          <p:cNvSpPr/>
          <p:nvPr/>
        </p:nvSpPr>
        <p:spPr>
          <a:xfrm>
            <a:off x="2304288" y="2697480"/>
            <a:ext cx="1600200" cy="2514600"/>
          </a:xfrm>
          <a:prstGeom prst="roundRect">
            <a:avLst>
              <a:gd name="adj" fmla="val 12000"/>
            </a:avLst>
          </a:prstGeom>
          <a:noFill/>
          <a:ln w="38100" cap="rnd">
            <a:solidFill>
              <a:srgbClr val="4D96FF"/>
            </a:solidFill>
            <a:prstDash val="solid"/>
            <a:round/>
          </a:ln>
        </p:spPr>
      </p:sp>
      <p:sp>
        <p:nvSpPr>
          <p:cNvPr id="9" name="ellipse 9"/>
          <p:cNvSpPr/>
          <p:nvPr/>
        </p:nvSpPr>
        <p:spPr>
          <a:xfrm>
            <a:off x="2647188" y="2926080"/>
            <a:ext cx="914400" cy="914400"/>
          </a:xfrm>
          <a:prstGeom prst="ellipse">
            <a:avLst/>
          </a:prstGeom>
          <a:solidFill>
            <a:srgbClr val="EAF2FF"/>
          </a:solidFill>
          <a:ln w="31750" cap="rnd">
            <a:solidFill>
              <a:srgbClr val="4D96FF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0" dirty="0">
                <a:solidFill>
                  <a:srgbClr val="2B2D42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🐶</a:t>
            </a:r>
            <a:endParaRPr lang="en-GB" sz="3200" dirty="0"/>
          </a:p>
        </p:txBody>
      </p:sp>
      <p:sp>
        <p:nvSpPr>
          <p:cNvPr id="10" name="Text 10"/>
          <p:cNvSpPr txBox="1"/>
          <p:nvPr/>
        </p:nvSpPr>
        <p:spPr>
          <a:xfrm>
            <a:off x="2350008" y="3959352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4D96FF"/>
                </a:solidFill>
                <a:latin typeface="Comic Sans MS"/>
                <a:ea typeface="Comic Sans MS"/>
                <a:cs typeface="Comic Sans MS"/>
              </a:rPr>
              <a:t>First Sounds</a:t>
            </a:r>
            <a:endParaRPr lang="en-GB" sz="1500" dirty="0"/>
          </a:p>
        </p:txBody>
      </p:sp>
      <p:sp>
        <p:nvSpPr>
          <p:cNvPr id="11" name="Text 11"/>
          <p:cNvSpPr txBox="1"/>
          <p:nvPr/>
        </p:nvSpPr>
        <p:spPr>
          <a:xfrm>
            <a:off x="2395728" y="4434840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first sounds</a:t>
            </a:r>
            <a:endParaRPr lang="en-GB" sz="1300" dirty="0"/>
          </a:p>
        </p:txBody>
      </p:sp>
      <p:sp>
        <p:nvSpPr>
          <p:cNvPr id="12" name="Game card 12"/>
          <p:cNvSpPr/>
          <p:nvPr/>
        </p:nvSpPr>
        <p:spPr>
          <a:xfrm>
            <a:off x="4151376" y="2697480"/>
            <a:ext cx="1600200" cy="2514600"/>
          </a:xfrm>
          <a:prstGeom prst="roundRect">
            <a:avLst>
              <a:gd name="adj" fmla="val 12000"/>
            </a:avLst>
          </a:prstGeom>
          <a:noFill/>
          <a:ln w="38100" cap="rnd">
            <a:solidFill>
              <a:srgbClr val="9B5DE5"/>
            </a:solidFill>
            <a:prstDash val="solid"/>
            <a:round/>
          </a:ln>
        </p:spPr>
      </p:sp>
      <p:sp>
        <p:nvSpPr>
          <p:cNvPr id="13" name="ellipse 13"/>
          <p:cNvSpPr/>
          <p:nvPr/>
        </p:nvSpPr>
        <p:spPr>
          <a:xfrm>
            <a:off x="4494276" y="2926080"/>
            <a:ext cx="914400" cy="914400"/>
          </a:xfrm>
          <a:prstGeom prst="ellipse">
            <a:avLst/>
          </a:prstGeom>
          <a:solidFill>
            <a:srgbClr val="F3ECFC"/>
          </a:solidFill>
          <a:ln w="31750" cap="rnd">
            <a:solidFill>
              <a:srgbClr val="9B5DE5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0" dirty="0">
                <a:solidFill>
                  <a:srgbClr val="2B2D42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🃏</a:t>
            </a:r>
            <a:endParaRPr lang="en-GB" sz="3200" dirty="0"/>
          </a:p>
        </p:txBody>
      </p:sp>
      <p:sp>
        <p:nvSpPr>
          <p:cNvPr id="14" name="Text 14"/>
          <p:cNvSpPr txBox="1"/>
          <p:nvPr/>
        </p:nvSpPr>
        <p:spPr>
          <a:xfrm>
            <a:off x="4197096" y="3959352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9B5DE5"/>
                </a:solidFill>
                <a:latin typeface="Comic Sans MS"/>
                <a:ea typeface="Comic Sans MS"/>
                <a:cs typeface="Comic Sans MS"/>
              </a:rPr>
              <a:t>Letter Match</a:t>
            </a:r>
            <a:endParaRPr lang="en-GB" sz="1500" dirty="0"/>
          </a:p>
        </p:txBody>
      </p:sp>
      <p:sp>
        <p:nvSpPr>
          <p:cNvPr id="15" name="Text 15"/>
          <p:cNvSpPr txBox="1"/>
          <p:nvPr/>
        </p:nvSpPr>
        <p:spPr>
          <a:xfrm>
            <a:off x="4242816" y="4434840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big &amp; little letters</a:t>
            </a:r>
            <a:endParaRPr lang="en-GB" sz="1300" dirty="0"/>
          </a:p>
        </p:txBody>
      </p:sp>
      <p:sp>
        <p:nvSpPr>
          <p:cNvPr id="16" name="Game card 16"/>
          <p:cNvSpPr/>
          <p:nvPr/>
        </p:nvSpPr>
        <p:spPr>
          <a:xfrm>
            <a:off x="5998464" y="2697480"/>
            <a:ext cx="1600200" cy="2514600"/>
          </a:xfrm>
          <a:prstGeom prst="roundRect">
            <a:avLst>
              <a:gd name="adj" fmla="val 12000"/>
            </a:avLst>
          </a:prstGeom>
          <a:noFill/>
          <a:ln w="38100" cap="rnd">
            <a:solidFill>
              <a:srgbClr val="F15BB5"/>
            </a:solidFill>
            <a:prstDash val="solid"/>
            <a:round/>
          </a:ln>
        </p:spPr>
      </p:sp>
      <p:sp>
        <p:nvSpPr>
          <p:cNvPr id="17" name="ellipse 17"/>
          <p:cNvSpPr/>
          <p:nvPr/>
        </p:nvSpPr>
        <p:spPr>
          <a:xfrm>
            <a:off x="6341364" y="2926080"/>
            <a:ext cx="914400" cy="914400"/>
          </a:xfrm>
          <a:prstGeom prst="ellipse">
            <a:avLst/>
          </a:prstGeom>
          <a:solidFill>
            <a:srgbClr val="FDEBF6"/>
          </a:solidFill>
          <a:ln w="31750" cap="rnd">
            <a:solidFill>
              <a:srgbClr val="F15BB5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0" dirty="0">
                <a:solidFill>
                  <a:srgbClr val="2B2D42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🎵</a:t>
            </a:r>
            <a:endParaRPr lang="en-GB" sz="3200" dirty="0"/>
          </a:p>
        </p:txBody>
      </p:sp>
      <p:sp>
        <p:nvSpPr>
          <p:cNvPr id="18" name="Text 18"/>
          <p:cNvSpPr txBox="1"/>
          <p:nvPr/>
        </p:nvSpPr>
        <p:spPr>
          <a:xfrm>
            <a:off x="6044184" y="3959352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F15BB5"/>
                </a:solidFill>
                <a:latin typeface="Comic Sans MS"/>
                <a:ea typeface="Comic Sans MS"/>
                <a:cs typeface="Comic Sans MS"/>
              </a:rPr>
              <a:t>Rhyme Time</a:t>
            </a:r>
            <a:endParaRPr lang="en-GB" sz="1500" dirty="0"/>
          </a:p>
        </p:txBody>
      </p:sp>
      <p:sp>
        <p:nvSpPr>
          <p:cNvPr id="19" name="Text 19"/>
          <p:cNvSpPr txBox="1"/>
          <p:nvPr/>
        </p:nvSpPr>
        <p:spPr>
          <a:xfrm>
            <a:off x="6089904" y="4434840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rhyming</a:t>
            </a:r>
            <a:endParaRPr lang="en-GB" sz="1300" dirty="0"/>
          </a:p>
        </p:txBody>
      </p:sp>
      <p:sp>
        <p:nvSpPr>
          <p:cNvPr id="20" name="Game card 20"/>
          <p:cNvSpPr/>
          <p:nvPr/>
        </p:nvSpPr>
        <p:spPr>
          <a:xfrm>
            <a:off x="7845552" y="2697480"/>
            <a:ext cx="1600200" cy="2514600"/>
          </a:xfrm>
          <a:prstGeom prst="roundRect">
            <a:avLst>
              <a:gd name="adj" fmla="val 12000"/>
            </a:avLst>
          </a:prstGeom>
          <a:noFill/>
          <a:ln w="38100" cap="rnd">
            <a:solidFill>
              <a:srgbClr val="2A9D8F"/>
            </a:solidFill>
            <a:prstDash val="solid"/>
            <a:round/>
          </a:ln>
        </p:spPr>
      </p:sp>
      <p:sp>
        <p:nvSpPr>
          <p:cNvPr id="21" name="ellipse 21"/>
          <p:cNvSpPr/>
          <p:nvPr/>
        </p:nvSpPr>
        <p:spPr>
          <a:xfrm>
            <a:off x="8188452" y="2926080"/>
            <a:ext cx="914400" cy="914400"/>
          </a:xfrm>
          <a:prstGeom prst="ellipse">
            <a:avLst/>
          </a:prstGeom>
          <a:solidFill>
            <a:srgbClr val="E5F3F2"/>
          </a:solidFill>
          <a:ln w="31750" cap="rnd">
            <a:solidFill>
              <a:srgbClr val="2A9D8F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0" dirty="0">
                <a:solidFill>
                  <a:srgbClr val="2B2D42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🧱</a:t>
            </a:r>
            <a:endParaRPr lang="en-GB" sz="3200" dirty="0"/>
          </a:p>
        </p:txBody>
      </p:sp>
      <p:sp>
        <p:nvSpPr>
          <p:cNvPr id="22" name="Text 22"/>
          <p:cNvSpPr txBox="1"/>
          <p:nvPr/>
        </p:nvSpPr>
        <p:spPr>
          <a:xfrm>
            <a:off x="7891272" y="3959352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2A9D8F"/>
                </a:solidFill>
                <a:latin typeface="Comic Sans MS"/>
                <a:ea typeface="Comic Sans MS"/>
                <a:cs typeface="Comic Sans MS"/>
              </a:rPr>
              <a:t>Build a Word</a:t>
            </a:r>
            <a:endParaRPr lang="en-GB" sz="1500" dirty="0"/>
          </a:p>
        </p:txBody>
      </p:sp>
      <p:sp>
        <p:nvSpPr>
          <p:cNvPr id="23" name="Text 23"/>
          <p:cNvSpPr txBox="1"/>
          <p:nvPr/>
        </p:nvSpPr>
        <p:spPr>
          <a:xfrm>
            <a:off x="7936992" y="4434840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blending</a:t>
            </a:r>
            <a:endParaRPr lang="en-GB" sz="1300" dirty="0"/>
          </a:p>
        </p:txBody>
      </p:sp>
      <p:sp>
        <p:nvSpPr>
          <p:cNvPr id="24" name="How to use 24"/>
          <p:cNvSpPr/>
          <p:nvPr/>
        </p:nvSpPr>
        <p:spPr>
          <a:xfrm>
            <a:off x="457200" y="5532120"/>
            <a:ext cx="8988552" cy="731520"/>
          </a:xfrm>
          <a:prstGeom prst="roundRect">
            <a:avLst>
              <a:gd name="adj" fmla="val 30000"/>
            </a:avLst>
          </a:prstGeom>
          <a:noFill/>
          <a:ln w="38100" cap="rnd">
            <a:solidFill>
              <a:srgbClr val="FFD93D"/>
            </a:solidFill>
            <a:prstDash val="solid"/>
            <a:round/>
          </a:ln>
        </p:spPr>
        <p:txBody>
          <a:bodyPr wrap="square" lIns="182880" tIns="0" rIns="18288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How to use: </a:t>
            </a:r>
            <a:r>
              <a:rPr lang="en-GB" sz="1500" b="0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print on A4 (landscape), sit together, say the sounds out loud, and have fun!</a:t>
            </a:r>
            <a:endParaRPr lang="en-GB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ame icon 2"/>
          <p:cNvSpPr/>
          <p:nvPr/>
        </p:nvSpPr>
        <p:spPr>
          <a:xfrm>
            <a:off x="457200" y="365760"/>
            <a:ext cx="914400" cy="914400"/>
          </a:xfrm>
          <a:prstGeom prst="ellipse">
            <a:avLst/>
          </a:prstGeom>
          <a:solidFill>
            <a:srgbClr val="FFEDED"/>
          </a:solidFill>
          <a:ln w="38100" cap="rnd">
            <a:solidFill>
              <a:srgbClr val="FF6B6B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0" dirty="0">
                <a:solidFill>
                  <a:srgbClr val="2B2D42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🎈</a:t>
            </a:r>
            <a:endParaRPr lang="en-GB" sz="3200" dirty="0"/>
          </a:p>
        </p:txBody>
      </p:sp>
      <p:sp>
        <p:nvSpPr>
          <p:cNvPr id="3" name="Text 3"/>
          <p:cNvSpPr txBox="1"/>
          <p:nvPr/>
        </p:nvSpPr>
        <p:spPr>
          <a:xfrm>
            <a:off x="1572768" y="329184"/>
            <a:ext cx="5760720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FF6B6B"/>
                </a:solidFill>
                <a:latin typeface="Comic Sans MS"/>
                <a:ea typeface="Comic Sans MS"/>
                <a:cs typeface="Comic Sans MS"/>
              </a:rPr>
              <a:t>Colour the balloons</a:t>
            </a:r>
            <a:endParaRPr lang="en-GB" sz="3600" dirty="0"/>
          </a:p>
        </p:txBody>
      </p:sp>
      <p:sp>
        <p:nvSpPr>
          <p:cNvPr id="4" name="Text 4"/>
          <p:cNvSpPr txBox="1"/>
          <p:nvPr/>
        </p:nvSpPr>
        <p:spPr>
          <a:xfrm>
            <a:off x="1572768" y="1005840"/>
            <a:ext cx="57607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0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Colour every balloon with the letter s</a:t>
            </a:r>
            <a:endParaRPr lang="en-GB" sz="1900" dirty="0"/>
          </a:p>
        </p:txBody>
      </p:sp>
      <p:sp>
        <p:nvSpPr>
          <p:cNvPr id="5" name="Find box 5"/>
          <p:cNvSpPr/>
          <p:nvPr/>
        </p:nvSpPr>
        <p:spPr>
          <a:xfrm>
            <a:off x="7498080" y="365760"/>
            <a:ext cx="2039112" cy="1097280"/>
          </a:xfrm>
          <a:prstGeom prst="roundRect">
            <a:avLst>
              <a:gd name="adj" fmla="val 20000"/>
            </a:avLst>
          </a:prstGeom>
          <a:solidFill>
            <a:srgbClr val="FFF0F0"/>
          </a:solidFill>
          <a:ln w="38100" cap="rnd">
            <a:solidFill>
              <a:srgbClr val="FF6B6B"/>
            </a:solidFill>
            <a:prstDash val="solid"/>
            <a:round/>
          </a:ln>
        </p:spPr>
      </p:sp>
      <p:sp>
        <p:nvSpPr>
          <p:cNvPr id="6" name="Text 6"/>
          <p:cNvSpPr txBox="1"/>
          <p:nvPr/>
        </p:nvSpPr>
        <p:spPr>
          <a:xfrm>
            <a:off x="7589520" y="411480"/>
            <a:ext cx="713232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Find:</a:t>
            </a:r>
            <a:endParaRPr lang="en-GB" sz="1800" dirty="0"/>
          </a:p>
        </p:txBody>
      </p:sp>
      <p:sp>
        <p:nvSpPr>
          <p:cNvPr id="7" name="Text 7"/>
          <p:cNvSpPr txBox="1"/>
          <p:nvPr/>
        </p:nvSpPr>
        <p:spPr>
          <a:xfrm>
            <a:off x="8275320" y="411480"/>
            <a:ext cx="566928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dirty="0">
                <a:solidFill>
                  <a:srgbClr val="FF6B6B"/>
                </a:solidFill>
                <a:latin typeface="Comic Sans MS"/>
                <a:ea typeface="Comic Sans MS"/>
                <a:cs typeface="Comic Sans MS"/>
              </a:rPr>
              <a:t>s</a:t>
            </a:r>
            <a:endParaRPr lang="en-GB" sz="5400" dirty="0"/>
          </a:p>
        </p:txBody>
      </p:sp>
      <p:sp>
        <p:nvSpPr>
          <p:cNvPr id="8" name="Text 8"/>
          <p:cNvSpPr txBox="1"/>
          <p:nvPr/>
        </p:nvSpPr>
        <p:spPr>
          <a:xfrm>
            <a:off x="8842248" y="411480"/>
            <a:ext cx="603504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0" dirty="0">
                <a:solidFill>
                  <a:srgbClr val="2B2D42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🐍</a:t>
            </a:r>
            <a:endParaRPr lang="en-GB" sz="3000" dirty="0"/>
          </a:p>
        </p:txBody>
      </p:sp>
      <p:sp>
        <p:nvSpPr>
          <p:cNvPr id="9" name="Balloon 9"/>
          <p:cNvSpPr/>
          <p:nvPr/>
        </p:nvSpPr>
        <p:spPr>
          <a:xfrm>
            <a:off x="566928" y="1645920"/>
            <a:ext cx="960120" cy="1188720"/>
          </a:xfrm>
          <a:prstGeom prst="ellipse">
            <a:avLst/>
          </a:prstGeom>
          <a:noFill/>
          <a:ln w="38100" cap="rnd">
            <a:solidFill>
              <a:srgbClr val="FF6B6B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a</a:t>
            </a:r>
            <a:endParaRPr lang="en-GB" sz="4800" dirty="0"/>
          </a:p>
        </p:txBody>
      </p:sp>
      <p:sp>
        <p:nvSpPr>
          <p:cNvPr id="10" name="Knot 10"/>
          <p:cNvSpPr/>
          <p:nvPr/>
        </p:nvSpPr>
        <p:spPr>
          <a:xfrm>
            <a:off x="964692" y="2825496"/>
            <a:ext cx="164592" cy="118872"/>
          </a:xfrm>
          <a:prstGeom prst="triangle">
            <a:avLst/>
          </a:prstGeom>
          <a:solidFill>
            <a:srgbClr val="FF6B6B"/>
          </a:solidFill>
          <a:ln w="12700" cap="rnd">
            <a:solidFill>
              <a:srgbClr val="FF6B6B"/>
            </a:solidFill>
            <a:prstDash val="solid"/>
            <a:round/>
          </a:ln>
        </p:spPr>
      </p:sp>
      <p:sp>
        <p:nvSpPr>
          <p:cNvPr id="11" name="String 11"/>
          <p:cNvSpPr/>
          <p:nvPr/>
        </p:nvSpPr>
        <p:spPr>
          <a:xfrm>
            <a:off x="1046988" y="2944368"/>
            <a:ext cx="0" cy="475488"/>
          </a:xfrm>
          <a:prstGeom prst="line">
            <a:avLst/>
          </a:prstGeom>
          <a:noFill/>
          <a:ln w="15875" cap="rnd">
            <a:solidFill>
              <a:srgbClr val="6B6D85"/>
            </a:solidFill>
            <a:prstDash val="solid"/>
            <a:round/>
          </a:ln>
        </p:spPr>
      </p:sp>
      <p:sp>
        <p:nvSpPr>
          <p:cNvPr id="12" name="Balloon 12"/>
          <p:cNvSpPr/>
          <p:nvPr/>
        </p:nvSpPr>
        <p:spPr>
          <a:xfrm>
            <a:off x="1828800" y="1847088"/>
            <a:ext cx="960120" cy="1188720"/>
          </a:xfrm>
          <a:prstGeom prst="ellipse">
            <a:avLst/>
          </a:prstGeom>
          <a:noFill/>
          <a:ln w="38100" cap="rnd">
            <a:solidFill>
              <a:srgbClr val="4D96FF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s</a:t>
            </a:r>
            <a:endParaRPr lang="en-GB" sz="4800" dirty="0"/>
          </a:p>
        </p:txBody>
      </p:sp>
      <p:sp>
        <p:nvSpPr>
          <p:cNvPr id="13" name="Knot 13"/>
          <p:cNvSpPr/>
          <p:nvPr/>
        </p:nvSpPr>
        <p:spPr>
          <a:xfrm>
            <a:off x="2226564" y="3026664"/>
            <a:ext cx="164592" cy="118872"/>
          </a:xfrm>
          <a:prstGeom prst="triangle">
            <a:avLst/>
          </a:prstGeom>
          <a:solidFill>
            <a:srgbClr val="4D96FF"/>
          </a:solidFill>
          <a:ln w="12700" cap="rnd">
            <a:solidFill>
              <a:srgbClr val="4D96FF"/>
            </a:solidFill>
            <a:prstDash val="solid"/>
            <a:round/>
          </a:ln>
        </p:spPr>
      </p:sp>
      <p:sp>
        <p:nvSpPr>
          <p:cNvPr id="14" name="String 14"/>
          <p:cNvSpPr/>
          <p:nvPr/>
        </p:nvSpPr>
        <p:spPr>
          <a:xfrm>
            <a:off x="2308860" y="3145536"/>
            <a:ext cx="0" cy="475488"/>
          </a:xfrm>
          <a:prstGeom prst="line">
            <a:avLst/>
          </a:prstGeom>
          <a:noFill/>
          <a:ln w="15875" cap="rnd">
            <a:solidFill>
              <a:srgbClr val="6B6D85"/>
            </a:solidFill>
            <a:prstDash val="solid"/>
            <a:round/>
          </a:ln>
        </p:spPr>
      </p:sp>
      <p:sp>
        <p:nvSpPr>
          <p:cNvPr id="15" name="Balloon 15"/>
          <p:cNvSpPr/>
          <p:nvPr/>
        </p:nvSpPr>
        <p:spPr>
          <a:xfrm>
            <a:off x="3090672" y="1691640"/>
            <a:ext cx="960120" cy="1188720"/>
          </a:xfrm>
          <a:prstGeom prst="ellipse">
            <a:avLst/>
          </a:prstGeom>
          <a:noFill/>
          <a:ln w="38100" cap="rnd">
            <a:solidFill>
              <a:srgbClr val="9B5DE5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t</a:t>
            </a:r>
            <a:endParaRPr lang="en-GB" sz="4800" dirty="0"/>
          </a:p>
        </p:txBody>
      </p:sp>
      <p:sp>
        <p:nvSpPr>
          <p:cNvPr id="16" name="Knot 16"/>
          <p:cNvSpPr/>
          <p:nvPr/>
        </p:nvSpPr>
        <p:spPr>
          <a:xfrm>
            <a:off x="3488436" y="2871216"/>
            <a:ext cx="164592" cy="118872"/>
          </a:xfrm>
          <a:prstGeom prst="triangle">
            <a:avLst/>
          </a:prstGeom>
          <a:solidFill>
            <a:srgbClr val="9B5DE5"/>
          </a:solidFill>
          <a:ln w="12700" cap="rnd">
            <a:solidFill>
              <a:srgbClr val="9B5DE5"/>
            </a:solidFill>
            <a:prstDash val="solid"/>
            <a:round/>
          </a:ln>
        </p:spPr>
      </p:sp>
      <p:sp>
        <p:nvSpPr>
          <p:cNvPr id="17" name="String 17"/>
          <p:cNvSpPr/>
          <p:nvPr/>
        </p:nvSpPr>
        <p:spPr>
          <a:xfrm>
            <a:off x="3570732" y="2990088"/>
            <a:ext cx="0" cy="475488"/>
          </a:xfrm>
          <a:prstGeom prst="line">
            <a:avLst/>
          </a:prstGeom>
          <a:noFill/>
          <a:ln w="15875" cap="rnd">
            <a:solidFill>
              <a:srgbClr val="6B6D85"/>
            </a:solidFill>
            <a:prstDash val="solid"/>
            <a:round/>
          </a:ln>
        </p:spPr>
      </p:sp>
      <p:sp>
        <p:nvSpPr>
          <p:cNvPr id="18" name="Balloon 18"/>
          <p:cNvSpPr/>
          <p:nvPr/>
        </p:nvSpPr>
        <p:spPr>
          <a:xfrm>
            <a:off x="4352544" y="1901952"/>
            <a:ext cx="960120" cy="1188720"/>
          </a:xfrm>
          <a:prstGeom prst="ellipse">
            <a:avLst/>
          </a:prstGeom>
          <a:noFill/>
          <a:ln w="38100" cap="rnd">
            <a:solidFill>
              <a:srgbClr val="F15BB5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p</a:t>
            </a:r>
            <a:endParaRPr lang="en-GB" sz="4800" dirty="0"/>
          </a:p>
        </p:txBody>
      </p:sp>
      <p:sp>
        <p:nvSpPr>
          <p:cNvPr id="19" name="Knot 19"/>
          <p:cNvSpPr/>
          <p:nvPr/>
        </p:nvSpPr>
        <p:spPr>
          <a:xfrm>
            <a:off x="4750308" y="3081528"/>
            <a:ext cx="164592" cy="118872"/>
          </a:xfrm>
          <a:prstGeom prst="triangle">
            <a:avLst/>
          </a:prstGeom>
          <a:solidFill>
            <a:srgbClr val="F15BB5"/>
          </a:solidFill>
          <a:ln w="12700" cap="rnd">
            <a:solidFill>
              <a:srgbClr val="F15BB5"/>
            </a:solidFill>
            <a:prstDash val="solid"/>
            <a:round/>
          </a:ln>
        </p:spPr>
      </p:sp>
      <p:sp>
        <p:nvSpPr>
          <p:cNvPr id="20" name="String 20"/>
          <p:cNvSpPr/>
          <p:nvPr/>
        </p:nvSpPr>
        <p:spPr>
          <a:xfrm>
            <a:off x="4832604" y="3200400"/>
            <a:ext cx="0" cy="475488"/>
          </a:xfrm>
          <a:prstGeom prst="line">
            <a:avLst/>
          </a:prstGeom>
          <a:noFill/>
          <a:ln w="15875" cap="rnd">
            <a:solidFill>
              <a:srgbClr val="6B6D85"/>
            </a:solidFill>
            <a:prstDash val="solid"/>
            <a:round/>
          </a:ln>
        </p:spPr>
      </p:sp>
      <p:sp>
        <p:nvSpPr>
          <p:cNvPr id="21" name="Balloon 21"/>
          <p:cNvSpPr/>
          <p:nvPr/>
        </p:nvSpPr>
        <p:spPr>
          <a:xfrm>
            <a:off x="5614416" y="1737360"/>
            <a:ext cx="960120" cy="1188720"/>
          </a:xfrm>
          <a:prstGeom prst="ellipse">
            <a:avLst/>
          </a:prstGeom>
          <a:noFill/>
          <a:ln w="38100" cap="rnd">
            <a:solidFill>
              <a:srgbClr val="2A9D8F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s</a:t>
            </a:r>
            <a:endParaRPr lang="en-GB" sz="4800" dirty="0"/>
          </a:p>
        </p:txBody>
      </p:sp>
      <p:sp>
        <p:nvSpPr>
          <p:cNvPr id="22" name="Knot 22"/>
          <p:cNvSpPr/>
          <p:nvPr/>
        </p:nvSpPr>
        <p:spPr>
          <a:xfrm>
            <a:off x="6012180" y="2916936"/>
            <a:ext cx="164592" cy="118872"/>
          </a:xfrm>
          <a:prstGeom prst="triangle">
            <a:avLst/>
          </a:prstGeom>
          <a:solidFill>
            <a:srgbClr val="2A9D8F"/>
          </a:solidFill>
          <a:ln w="12700" cap="rnd">
            <a:solidFill>
              <a:srgbClr val="2A9D8F"/>
            </a:solidFill>
            <a:prstDash val="solid"/>
            <a:round/>
          </a:ln>
        </p:spPr>
      </p:sp>
      <p:sp>
        <p:nvSpPr>
          <p:cNvPr id="23" name="String 23"/>
          <p:cNvSpPr/>
          <p:nvPr/>
        </p:nvSpPr>
        <p:spPr>
          <a:xfrm>
            <a:off x="6094476" y="3035808"/>
            <a:ext cx="0" cy="475488"/>
          </a:xfrm>
          <a:prstGeom prst="line">
            <a:avLst/>
          </a:prstGeom>
          <a:noFill/>
          <a:ln w="15875" cap="rnd">
            <a:solidFill>
              <a:srgbClr val="6B6D85"/>
            </a:solidFill>
            <a:prstDash val="solid"/>
            <a:round/>
          </a:ln>
        </p:spPr>
      </p:sp>
      <p:sp>
        <p:nvSpPr>
          <p:cNvPr id="24" name="Balloon 24"/>
          <p:cNvSpPr/>
          <p:nvPr/>
        </p:nvSpPr>
        <p:spPr>
          <a:xfrm>
            <a:off x="6876288" y="1865376"/>
            <a:ext cx="960120" cy="1188720"/>
          </a:xfrm>
          <a:prstGeom prst="ellipse">
            <a:avLst/>
          </a:prstGeom>
          <a:noFill/>
          <a:ln w="50800" cap="rnd">
            <a:solidFill>
              <a:srgbClr val="FFD93D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i</a:t>
            </a:r>
            <a:endParaRPr lang="en-GB" sz="4800" dirty="0"/>
          </a:p>
        </p:txBody>
      </p:sp>
      <p:sp>
        <p:nvSpPr>
          <p:cNvPr id="25" name="Knot 25"/>
          <p:cNvSpPr/>
          <p:nvPr/>
        </p:nvSpPr>
        <p:spPr>
          <a:xfrm>
            <a:off x="7274052" y="3044952"/>
            <a:ext cx="164592" cy="118872"/>
          </a:xfrm>
          <a:prstGeom prst="triangle">
            <a:avLst/>
          </a:prstGeom>
          <a:solidFill>
            <a:srgbClr val="FFD93D"/>
          </a:solidFill>
          <a:ln w="12700" cap="rnd">
            <a:solidFill>
              <a:srgbClr val="FFD93D"/>
            </a:solidFill>
            <a:prstDash val="solid"/>
            <a:round/>
          </a:ln>
        </p:spPr>
      </p:sp>
      <p:sp>
        <p:nvSpPr>
          <p:cNvPr id="26" name="String 26"/>
          <p:cNvSpPr/>
          <p:nvPr/>
        </p:nvSpPr>
        <p:spPr>
          <a:xfrm>
            <a:off x="7356348" y="3163824"/>
            <a:ext cx="0" cy="475488"/>
          </a:xfrm>
          <a:prstGeom prst="line">
            <a:avLst/>
          </a:prstGeom>
          <a:noFill/>
          <a:ln w="15875" cap="rnd">
            <a:solidFill>
              <a:srgbClr val="6B6D85"/>
            </a:solidFill>
            <a:prstDash val="solid"/>
            <a:round/>
          </a:ln>
        </p:spPr>
      </p:sp>
      <p:sp>
        <p:nvSpPr>
          <p:cNvPr id="27" name="Balloon 27"/>
          <p:cNvSpPr/>
          <p:nvPr/>
        </p:nvSpPr>
        <p:spPr>
          <a:xfrm>
            <a:off x="8138160" y="1664208"/>
            <a:ext cx="960120" cy="1188720"/>
          </a:xfrm>
          <a:prstGeom prst="ellipse">
            <a:avLst/>
          </a:prstGeom>
          <a:noFill/>
          <a:ln w="38100" cap="rnd">
            <a:solidFill>
              <a:srgbClr val="4D96FF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n</a:t>
            </a:r>
            <a:endParaRPr lang="en-GB" sz="4800" dirty="0"/>
          </a:p>
        </p:txBody>
      </p:sp>
      <p:sp>
        <p:nvSpPr>
          <p:cNvPr id="28" name="Knot 28"/>
          <p:cNvSpPr/>
          <p:nvPr/>
        </p:nvSpPr>
        <p:spPr>
          <a:xfrm>
            <a:off x="8535924" y="2843784"/>
            <a:ext cx="164592" cy="118872"/>
          </a:xfrm>
          <a:prstGeom prst="triangle">
            <a:avLst/>
          </a:prstGeom>
          <a:solidFill>
            <a:srgbClr val="4D96FF"/>
          </a:solidFill>
          <a:ln w="12700" cap="rnd">
            <a:solidFill>
              <a:srgbClr val="4D96FF"/>
            </a:solidFill>
            <a:prstDash val="solid"/>
            <a:round/>
          </a:ln>
        </p:spPr>
      </p:sp>
      <p:sp>
        <p:nvSpPr>
          <p:cNvPr id="29" name="String 29"/>
          <p:cNvSpPr/>
          <p:nvPr/>
        </p:nvSpPr>
        <p:spPr>
          <a:xfrm>
            <a:off x="8618220" y="2962656"/>
            <a:ext cx="0" cy="475488"/>
          </a:xfrm>
          <a:prstGeom prst="line">
            <a:avLst/>
          </a:prstGeom>
          <a:noFill/>
          <a:ln w="15875" cap="rnd">
            <a:solidFill>
              <a:srgbClr val="6B6D85"/>
            </a:solidFill>
            <a:prstDash val="solid"/>
            <a:round/>
          </a:ln>
        </p:spPr>
      </p:sp>
      <p:sp>
        <p:nvSpPr>
          <p:cNvPr id="30" name="Balloon 30"/>
          <p:cNvSpPr/>
          <p:nvPr/>
        </p:nvSpPr>
        <p:spPr>
          <a:xfrm>
            <a:off x="868680" y="4050792"/>
            <a:ext cx="960120" cy="1188720"/>
          </a:xfrm>
          <a:prstGeom prst="ellipse">
            <a:avLst/>
          </a:prstGeom>
          <a:noFill/>
          <a:ln w="38100" cap="rnd">
            <a:solidFill>
              <a:srgbClr val="9B5DE5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s</a:t>
            </a:r>
            <a:endParaRPr lang="en-GB" sz="4800" dirty="0"/>
          </a:p>
        </p:txBody>
      </p:sp>
      <p:sp>
        <p:nvSpPr>
          <p:cNvPr id="31" name="Knot 31"/>
          <p:cNvSpPr/>
          <p:nvPr/>
        </p:nvSpPr>
        <p:spPr>
          <a:xfrm>
            <a:off x="1266444" y="5230368"/>
            <a:ext cx="164592" cy="118872"/>
          </a:xfrm>
          <a:prstGeom prst="triangle">
            <a:avLst/>
          </a:prstGeom>
          <a:solidFill>
            <a:srgbClr val="9B5DE5"/>
          </a:solidFill>
          <a:ln w="12700" cap="rnd">
            <a:solidFill>
              <a:srgbClr val="9B5DE5"/>
            </a:solidFill>
            <a:prstDash val="solid"/>
            <a:round/>
          </a:ln>
        </p:spPr>
      </p:sp>
      <p:sp>
        <p:nvSpPr>
          <p:cNvPr id="32" name="String 32"/>
          <p:cNvSpPr/>
          <p:nvPr/>
        </p:nvSpPr>
        <p:spPr>
          <a:xfrm>
            <a:off x="1348740" y="5349240"/>
            <a:ext cx="0" cy="475488"/>
          </a:xfrm>
          <a:prstGeom prst="line">
            <a:avLst/>
          </a:prstGeom>
          <a:noFill/>
          <a:ln w="15875" cap="rnd">
            <a:solidFill>
              <a:srgbClr val="6B6D85"/>
            </a:solidFill>
            <a:prstDash val="solid"/>
            <a:round/>
          </a:ln>
        </p:spPr>
      </p:sp>
      <p:sp>
        <p:nvSpPr>
          <p:cNvPr id="33" name="Balloon 33"/>
          <p:cNvSpPr/>
          <p:nvPr/>
        </p:nvSpPr>
        <p:spPr>
          <a:xfrm>
            <a:off x="2130552" y="3886200"/>
            <a:ext cx="960120" cy="1188720"/>
          </a:xfrm>
          <a:prstGeom prst="ellipse">
            <a:avLst/>
          </a:prstGeom>
          <a:noFill/>
          <a:ln w="38100" cap="rnd">
            <a:solidFill>
              <a:srgbClr val="F15BB5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m</a:t>
            </a:r>
            <a:endParaRPr lang="en-GB" sz="4800" dirty="0"/>
          </a:p>
        </p:txBody>
      </p:sp>
      <p:sp>
        <p:nvSpPr>
          <p:cNvPr id="34" name="Knot 34"/>
          <p:cNvSpPr/>
          <p:nvPr/>
        </p:nvSpPr>
        <p:spPr>
          <a:xfrm>
            <a:off x="2528316" y="5065776"/>
            <a:ext cx="164592" cy="118872"/>
          </a:xfrm>
          <a:prstGeom prst="triangle">
            <a:avLst/>
          </a:prstGeom>
          <a:solidFill>
            <a:srgbClr val="F15BB5"/>
          </a:solidFill>
          <a:ln w="12700" cap="rnd">
            <a:solidFill>
              <a:srgbClr val="F15BB5"/>
            </a:solidFill>
            <a:prstDash val="solid"/>
            <a:round/>
          </a:ln>
        </p:spPr>
      </p:sp>
      <p:sp>
        <p:nvSpPr>
          <p:cNvPr id="35" name="String 35"/>
          <p:cNvSpPr/>
          <p:nvPr/>
        </p:nvSpPr>
        <p:spPr>
          <a:xfrm>
            <a:off x="2610612" y="5184648"/>
            <a:ext cx="0" cy="475488"/>
          </a:xfrm>
          <a:prstGeom prst="line">
            <a:avLst/>
          </a:prstGeom>
          <a:noFill/>
          <a:ln w="15875" cap="rnd">
            <a:solidFill>
              <a:srgbClr val="6B6D85"/>
            </a:solidFill>
            <a:prstDash val="solid"/>
            <a:round/>
          </a:ln>
        </p:spPr>
      </p:sp>
      <p:sp>
        <p:nvSpPr>
          <p:cNvPr id="36" name="Balloon 36"/>
          <p:cNvSpPr/>
          <p:nvPr/>
        </p:nvSpPr>
        <p:spPr>
          <a:xfrm>
            <a:off x="3392424" y="4123944"/>
            <a:ext cx="960120" cy="1188720"/>
          </a:xfrm>
          <a:prstGeom prst="ellipse">
            <a:avLst/>
          </a:prstGeom>
          <a:noFill/>
          <a:ln w="38100" cap="rnd">
            <a:solidFill>
              <a:srgbClr val="2A9D8F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i</a:t>
            </a:r>
            <a:endParaRPr lang="en-GB" sz="4800" dirty="0"/>
          </a:p>
        </p:txBody>
      </p:sp>
      <p:sp>
        <p:nvSpPr>
          <p:cNvPr id="37" name="Knot 37"/>
          <p:cNvSpPr/>
          <p:nvPr/>
        </p:nvSpPr>
        <p:spPr>
          <a:xfrm>
            <a:off x="3790188" y="5303520"/>
            <a:ext cx="164592" cy="118872"/>
          </a:xfrm>
          <a:prstGeom prst="triangle">
            <a:avLst/>
          </a:prstGeom>
          <a:solidFill>
            <a:srgbClr val="2A9D8F"/>
          </a:solidFill>
          <a:ln w="12700" cap="rnd">
            <a:solidFill>
              <a:srgbClr val="2A9D8F"/>
            </a:solidFill>
            <a:prstDash val="solid"/>
            <a:round/>
          </a:ln>
        </p:spPr>
      </p:sp>
      <p:sp>
        <p:nvSpPr>
          <p:cNvPr id="38" name="String 38"/>
          <p:cNvSpPr/>
          <p:nvPr/>
        </p:nvSpPr>
        <p:spPr>
          <a:xfrm>
            <a:off x="3872484" y="5422392"/>
            <a:ext cx="0" cy="475488"/>
          </a:xfrm>
          <a:prstGeom prst="line">
            <a:avLst/>
          </a:prstGeom>
          <a:noFill/>
          <a:ln w="15875" cap="rnd">
            <a:solidFill>
              <a:srgbClr val="6B6D85"/>
            </a:solidFill>
            <a:prstDash val="solid"/>
            <a:round/>
          </a:ln>
        </p:spPr>
      </p:sp>
      <p:sp>
        <p:nvSpPr>
          <p:cNvPr id="39" name="Balloon 39"/>
          <p:cNvSpPr/>
          <p:nvPr/>
        </p:nvSpPr>
        <p:spPr>
          <a:xfrm>
            <a:off x="4654296" y="3941064"/>
            <a:ext cx="960120" cy="1188720"/>
          </a:xfrm>
          <a:prstGeom prst="ellipse">
            <a:avLst/>
          </a:prstGeom>
          <a:noFill/>
          <a:ln w="50800" cap="rnd">
            <a:solidFill>
              <a:srgbClr val="FFD93D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s</a:t>
            </a:r>
            <a:endParaRPr lang="en-GB" sz="4800" dirty="0"/>
          </a:p>
        </p:txBody>
      </p:sp>
      <p:sp>
        <p:nvSpPr>
          <p:cNvPr id="40" name="Knot 40"/>
          <p:cNvSpPr/>
          <p:nvPr/>
        </p:nvSpPr>
        <p:spPr>
          <a:xfrm>
            <a:off x="5052060" y="5120640"/>
            <a:ext cx="164592" cy="118872"/>
          </a:xfrm>
          <a:prstGeom prst="triangle">
            <a:avLst/>
          </a:prstGeom>
          <a:solidFill>
            <a:srgbClr val="FFD93D"/>
          </a:solidFill>
          <a:ln w="12700" cap="rnd">
            <a:solidFill>
              <a:srgbClr val="FFD93D"/>
            </a:solidFill>
            <a:prstDash val="solid"/>
            <a:round/>
          </a:ln>
        </p:spPr>
      </p:sp>
      <p:sp>
        <p:nvSpPr>
          <p:cNvPr id="41" name="String 41"/>
          <p:cNvSpPr/>
          <p:nvPr/>
        </p:nvSpPr>
        <p:spPr>
          <a:xfrm>
            <a:off x="5134356" y="5239512"/>
            <a:ext cx="0" cy="475488"/>
          </a:xfrm>
          <a:prstGeom prst="line">
            <a:avLst/>
          </a:prstGeom>
          <a:noFill/>
          <a:ln w="15875" cap="rnd">
            <a:solidFill>
              <a:srgbClr val="6B6D85"/>
            </a:solidFill>
            <a:prstDash val="solid"/>
            <a:round/>
          </a:ln>
        </p:spPr>
      </p:sp>
      <p:sp>
        <p:nvSpPr>
          <p:cNvPr id="42" name="Balloon 42"/>
          <p:cNvSpPr/>
          <p:nvPr/>
        </p:nvSpPr>
        <p:spPr>
          <a:xfrm>
            <a:off x="5916168" y="4087368"/>
            <a:ext cx="960120" cy="1188720"/>
          </a:xfrm>
          <a:prstGeom prst="ellipse">
            <a:avLst/>
          </a:prstGeom>
          <a:noFill/>
          <a:ln w="38100" cap="rnd">
            <a:solidFill>
              <a:srgbClr val="4D96FF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a</a:t>
            </a:r>
            <a:endParaRPr lang="en-GB" sz="4800" dirty="0"/>
          </a:p>
        </p:txBody>
      </p:sp>
      <p:sp>
        <p:nvSpPr>
          <p:cNvPr id="43" name="Knot 43"/>
          <p:cNvSpPr/>
          <p:nvPr/>
        </p:nvSpPr>
        <p:spPr>
          <a:xfrm>
            <a:off x="6313932" y="5266944"/>
            <a:ext cx="164592" cy="118872"/>
          </a:xfrm>
          <a:prstGeom prst="triangle">
            <a:avLst/>
          </a:prstGeom>
          <a:solidFill>
            <a:srgbClr val="4D96FF"/>
          </a:solidFill>
          <a:ln w="12700" cap="rnd">
            <a:solidFill>
              <a:srgbClr val="4D96FF"/>
            </a:solidFill>
            <a:prstDash val="solid"/>
            <a:round/>
          </a:ln>
        </p:spPr>
      </p:sp>
      <p:sp>
        <p:nvSpPr>
          <p:cNvPr id="44" name="String 44"/>
          <p:cNvSpPr/>
          <p:nvPr/>
        </p:nvSpPr>
        <p:spPr>
          <a:xfrm>
            <a:off x="6396228" y="5385816"/>
            <a:ext cx="0" cy="475488"/>
          </a:xfrm>
          <a:prstGeom prst="line">
            <a:avLst/>
          </a:prstGeom>
          <a:noFill/>
          <a:ln w="15875" cap="rnd">
            <a:solidFill>
              <a:srgbClr val="6B6D85"/>
            </a:solidFill>
            <a:prstDash val="solid"/>
            <a:round/>
          </a:ln>
        </p:spPr>
      </p:sp>
      <p:sp>
        <p:nvSpPr>
          <p:cNvPr id="45" name="Balloon 45"/>
          <p:cNvSpPr/>
          <p:nvPr/>
        </p:nvSpPr>
        <p:spPr>
          <a:xfrm>
            <a:off x="7178040" y="3886200"/>
            <a:ext cx="960120" cy="1188720"/>
          </a:xfrm>
          <a:prstGeom prst="ellipse">
            <a:avLst/>
          </a:prstGeom>
          <a:noFill/>
          <a:ln w="38100" cap="rnd">
            <a:solidFill>
              <a:srgbClr val="FF6B6B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t</a:t>
            </a:r>
            <a:endParaRPr lang="en-GB" sz="4800" dirty="0"/>
          </a:p>
        </p:txBody>
      </p:sp>
      <p:sp>
        <p:nvSpPr>
          <p:cNvPr id="46" name="Knot 46"/>
          <p:cNvSpPr/>
          <p:nvPr/>
        </p:nvSpPr>
        <p:spPr>
          <a:xfrm>
            <a:off x="7575804" y="5065776"/>
            <a:ext cx="164592" cy="118872"/>
          </a:xfrm>
          <a:prstGeom prst="triangle">
            <a:avLst/>
          </a:prstGeom>
          <a:solidFill>
            <a:srgbClr val="FF6B6B"/>
          </a:solidFill>
          <a:ln w="12700" cap="rnd">
            <a:solidFill>
              <a:srgbClr val="FF6B6B"/>
            </a:solidFill>
            <a:prstDash val="solid"/>
            <a:round/>
          </a:ln>
        </p:spPr>
      </p:sp>
      <p:sp>
        <p:nvSpPr>
          <p:cNvPr id="47" name="String 47"/>
          <p:cNvSpPr/>
          <p:nvPr/>
        </p:nvSpPr>
        <p:spPr>
          <a:xfrm>
            <a:off x="7658100" y="5184648"/>
            <a:ext cx="0" cy="475488"/>
          </a:xfrm>
          <a:prstGeom prst="line">
            <a:avLst/>
          </a:prstGeom>
          <a:noFill/>
          <a:ln w="15875" cap="rnd">
            <a:solidFill>
              <a:srgbClr val="6B6D85"/>
            </a:solidFill>
            <a:prstDash val="solid"/>
            <a:round/>
          </a:ln>
        </p:spPr>
      </p:sp>
      <p:sp>
        <p:nvSpPr>
          <p:cNvPr id="48" name="Balloon 48"/>
          <p:cNvSpPr/>
          <p:nvPr/>
        </p:nvSpPr>
        <p:spPr>
          <a:xfrm>
            <a:off x="8439912" y="4023360"/>
            <a:ext cx="960120" cy="1188720"/>
          </a:xfrm>
          <a:prstGeom prst="ellipse">
            <a:avLst/>
          </a:prstGeom>
          <a:noFill/>
          <a:ln w="38100" cap="rnd">
            <a:solidFill>
              <a:srgbClr val="4D96FF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s</a:t>
            </a:r>
            <a:endParaRPr lang="en-GB" sz="4800" dirty="0"/>
          </a:p>
        </p:txBody>
      </p:sp>
      <p:sp>
        <p:nvSpPr>
          <p:cNvPr id="49" name="Knot 49"/>
          <p:cNvSpPr/>
          <p:nvPr/>
        </p:nvSpPr>
        <p:spPr>
          <a:xfrm>
            <a:off x="8837676" y="5202936"/>
            <a:ext cx="164592" cy="118872"/>
          </a:xfrm>
          <a:prstGeom prst="triangle">
            <a:avLst/>
          </a:prstGeom>
          <a:solidFill>
            <a:srgbClr val="4D96FF"/>
          </a:solidFill>
          <a:ln w="12700" cap="rnd">
            <a:solidFill>
              <a:srgbClr val="4D96FF"/>
            </a:solidFill>
            <a:prstDash val="solid"/>
            <a:round/>
          </a:ln>
        </p:spPr>
      </p:sp>
      <p:sp>
        <p:nvSpPr>
          <p:cNvPr id="50" name="String 50"/>
          <p:cNvSpPr/>
          <p:nvPr/>
        </p:nvSpPr>
        <p:spPr>
          <a:xfrm>
            <a:off x="8919972" y="5321808"/>
            <a:ext cx="0" cy="475488"/>
          </a:xfrm>
          <a:prstGeom prst="line">
            <a:avLst/>
          </a:prstGeom>
          <a:noFill/>
          <a:ln w="15875" cap="rnd">
            <a:solidFill>
              <a:srgbClr val="6B6D85"/>
            </a:solidFill>
            <a:prstDash val="solid"/>
            <a:round/>
          </a:ln>
        </p:spPr>
      </p:sp>
      <p:sp>
        <p:nvSpPr>
          <p:cNvPr id="51" name="Text 51"/>
          <p:cNvSpPr txBox="1"/>
          <p:nvPr/>
        </p:nvSpPr>
        <p:spPr>
          <a:xfrm>
            <a:off x="457200" y="6144768"/>
            <a:ext cx="898855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6B6D85"/>
                </a:solidFill>
                <a:latin typeface="Calibri"/>
                <a:ea typeface="Calibri"/>
                <a:cs typeface="Calibri"/>
              </a:rPr>
              <a:t>Grown-ups:</a:t>
            </a:r>
            <a:r>
              <a:rPr lang="en-GB" sz="1200" b="0" dirty="0">
                <a:solidFill>
                  <a:srgbClr val="6B6D85"/>
                </a:solidFill>
                <a:latin typeface="Calibri"/>
                <a:ea typeface="Calibri"/>
                <a:cs typeface="Calibri"/>
              </a:rPr>
              <a:t> say “sss” together each time your child finds an s. Snakes say sss!</a:t>
            </a:r>
            <a:endParaRPr lang="en-GB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ame icon 2"/>
          <p:cNvSpPr/>
          <p:nvPr/>
        </p:nvSpPr>
        <p:spPr>
          <a:xfrm>
            <a:off x="457200" y="365760"/>
            <a:ext cx="914400" cy="914400"/>
          </a:xfrm>
          <a:prstGeom prst="ellipse">
            <a:avLst/>
          </a:prstGeom>
          <a:solidFill>
            <a:srgbClr val="EAF2FF"/>
          </a:solidFill>
          <a:ln w="38100" cap="rnd">
            <a:solidFill>
              <a:srgbClr val="4D96FF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0" dirty="0">
                <a:solidFill>
                  <a:srgbClr val="2B2D42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🐶</a:t>
            </a:r>
            <a:endParaRPr lang="en-GB" sz="3200" dirty="0"/>
          </a:p>
        </p:txBody>
      </p:sp>
      <p:sp>
        <p:nvSpPr>
          <p:cNvPr id="3" name="Text 3"/>
          <p:cNvSpPr txBox="1"/>
          <p:nvPr/>
        </p:nvSpPr>
        <p:spPr>
          <a:xfrm>
            <a:off x="1572768" y="329184"/>
            <a:ext cx="7863840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4D96FF"/>
                </a:solidFill>
                <a:latin typeface="Comic Sans MS"/>
                <a:ea typeface="Comic Sans MS"/>
                <a:cs typeface="Comic Sans MS"/>
              </a:rPr>
              <a:t>What sound does it start with?</a:t>
            </a:r>
            <a:endParaRPr lang="en-GB" sz="3600" dirty="0"/>
          </a:p>
        </p:txBody>
      </p:sp>
      <p:sp>
        <p:nvSpPr>
          <p:cNvPr id="4" name="Text 4"/>
          <p:cNvSpPr txBox="1"/>
          <p:nvPr/>
        </p:nvSpPr>
        <p:spPr>
          <a:xfrm>
            <a:off x="1572768" y="1005840"/>
            <a:ext cx="78638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0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Say the picture’s name. Circle the letter it starts with.</a:t>
            </a:r>
            <a:endParaRPr lang="en-GB" sz="1900" dirty="0"/>
          </a:p>
        </p:txBody>
      </p:sp>
      <p:sp>
        <p:nvSpPr>
          <p:cNvPr id="5" name="Card 5"/>
          <p:cNvSpPr/>
          <p:nvPr/>
        </p:nvSpPr>
        <p:spPr>
          <a:xfrm>
            <a:off x="457200" y="1645920"/>
            <a:ext cx="2834640" cy="2130552"/>
          </a:xfrm>
          <a:prstGeom prst="roundRect">
            <a:avLst>
              <a:gd name="adj" fmla="val 9000"/>
            </a:avLst>
          </a:prstGeom>
          <a:noFill/>
          <a:ln w="31750" cap="rnd">
            <a:solidFill>
              <a:srgbClr val="4D96FF"/>
            </a:solidFill>
            <a:prstDash val="solid"/>
            <a:round/>
          </a:ln>
        </p:spPr>
      </p:sp>
      <p:sp>
        <p:nvSpPr>
          <p:cNvPr id="6" name="Text 6"/>
          <p:cNvSpPr txBox="1"/>
          <p:nvPr/>
        </p:nvSpPr>
        <p:spPr>
          <a:xfrm>
            <a:off x="457200" y="1719072"/>
            <a:ext cx="28346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 b="0" dirty="0">
                <a:solidFill>
                  <a:srgbClr val="2B2D42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🌞</a:t>
            </a:r>
            <a:endParaRPr lang="en-GB" sz="5000" dirty="0"/>
          </a:p>
        </p:txBody>
      </p:sp>
      <p:sp>
        <p:nvSpPr>
          <p:cNvPr id="7" name="Text 7"/>
          <p:cNvSpPr txBox="1"/>
          <p:nvPr/>
        </p:nvSpPr>
        <p:spPr>
          <a:xfrm>
            <a:off x="457200" y="257860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6B6D85"/>
                </a:solidFill>
                <a:latin typeface="Calibri"/>
                <a:ea typeface="Calibri"/>
                <a:cs typeface="Calibri"/>
              </a:rPr>
              <a:t>sun</a:t>
            </a:r>
            <a:endParaRPr lang="en-GB" sz="1100" dirty="0"/>
          </a:p>
        </p:txBody>
      </p:sp>
      <p:sp>
        <p:nvSpPr>
          <p:cNvPr id="8" name="Letter circle 8"/>
          <p:cNvSpPr/>
          <p:nvPr/>
        </p:nvSpPr>
        <p:spPr>
          <a:xfrm>
            <a:off x="640080" y="2907792"/>
            <a:ext cx="731520" cy="731520"/>
          </a:xfrm>
          <a:prstGeom prst="ellipse">
            <a:avLst/>
          </a:prstGeom>
          <a:noFill/>
          <a:ln w="28575" cap="rnd">
            <a:solidFill>
              <a:srgbClr val="4D96FF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m</a:t>
            </a:r>
            <a:endParaRPr lang="en-GB" sz="3600" dirty="0"/>
          </a:p>
        </p:txBody>
      </p:sp>
      <p:sp>
        <p:nvSpPr>
          <p:cNvPr id="9" name="Letter circle 9"/>
          <p:cNvSpPr/>
          <p:nvPr/>
        </p:nvSpPr>
        <p:spPr>
          <a:xfrm>
            <a:off x="1508760" y="2907792"/>
            <a:ext cx="731520" cy="731520"/>
          </a:xfrm>
          <a:prstGeom prst="ellipse">
            <a:avLst/>
          </a:prstGeom>
          <a:noFill/>
          <a:ln w="28575" cap="rnd">
            <a:solidFill>
              <a:srgbClr val="4D96FF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s</a:t>
            </a:r>
            <a:endParaRPr lang="en-GB" sz="3600" dirty="0"/>
          </a:p>
        </p:txBody>
      </p:sp>
      <p:sp>
        <p:nvSpPr>
          <p:cNvPr id="10" name="Letter circle 10"/>
          <p:cNvSpPr/>
          <p:nvPr/>
        </p:nvSpPr>
        <p:spPr>
          <a:xfrm>
            <a:off x="2377440" y="2907792"/>
            <a:ext cx="731520" cy="731520"/>
          </a:xfrm>
          <a:prstGeom prst="ellipse">
            <a:avLst/>
          </a:prstGeom>
          <a:noFill/>
          <a:ln w="28575" cap="rnd">
            <a:solidFill>
              <a:srgbClr val="4D96FF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t</a:t>
            </a:r>
            <a:endParaRPr lang="en-GB" sz="3600" dirty="0"/>
          </a:p>
        </p:txBody>
      </p:sp>
      <p:sp>
        <p:nvSpPr>
          <p:cNvPr id="11" name="Card 11"/>
          <p:cNvSpPr/>
          <p:nvPr/>
        </p:nvSpPr>
        <p:spPr>
          <a:xfrm>
            <a:off x="3534156" y="1645920"/>
            <a:ext cx="2834640" cy="2130552"/>
          </a:xfrm>
          <a:prstGeom prst="roundRect">
            <a:avLst>
              <a:gd name="adj" fmla="val 9000"/>
            </a:avLst>
          </a:prstGeom>
          <a:noFill/>
          <a:ln w="31750" cap="rnd">
            <a:solidFill>
              <a:srgbClr val="4D96FF"/>
            </a:solidFill>
            <a:prstDash val="solid"/>
            <a:round/>
          </a:ln>
        </p:spPr>
      </p:sp>
      <p:sp>
        <p:nvSpPr>
          <p:cNvPr id="12" name="Text 12"/>
          <p:cNvSpPr txBox="1"/>
          <p:nvPr/>
        </p:nvSpPr>
        <p:spPr>
          <a:xfrm>
            <a:off x="3534156" y="1719072"/>
            <a:ext cx="28346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 b="0" dirty="0">
                <a:solidFill>
                  <a:srgbClr val="2B2D42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🍎</a:t>
            </a:r>
            <a:endParaRPr lang="en-GB" sz="5000" dirty="0"/>
          </a:p>
        </p:txBody>
      </p:sp>
      <p:sp>
        <p:nvSpPr>
          <p:cNvPr id="13" name="Text 13"/>
          <p:cNvSpPr txBox="1"/>
          <p:nvPr/>
        </p:nvSpPr>
        <p:spPr>
          <a:xfrm>
            <a:off x="3534156" y="257860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6B6D85"/>
                </a:solidFill>
                <a:latin typeface="Calibri"/>
                <a:ea typeface="Calibri"/>
                <a:cs typeface="Calibri"/>
              </a:rPr>
              <a:t>apple</a:t>
            </a:r>
            <a:endParaRPr lang="en-GB" sz="1100" dirty="0"/>
          </a:p>
        </p:txBody>
      </p:sp>
      <p:sp>
        <p:nvSpPr>
          <p:cNvPr id="14" name="Letter circle 14"/>
          <p:cNvSpPr/>
          <p:nvPr/>
        </p:nvSpPr>
        <p:spPr>
          <a:xfrm>
            <a:off x="3717036" y="2907792"/>
            <a:ext cx="731520" cy="731520"/>
          </a:xfrm>
          <a:prstGeom prst="ellipse">
            <a:avLst/>
          </a:prstGeom>
          <a:noFill/>
          <a:ln w="28575" cap="rnd">
            <a:solidFill>
              <a:srgbClr val="4D96FF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p</a:t>
            </a:r>
            <a:endParaRPr lang="en-GB" sz="3600" dirty="0"/>
          </a:p>
        </p:txBody>
      </p:sp>
      <p:sp>
        <p:nvSpPr>
          <p:cNvPr id="15" name="Letter circle 15"/>
          <p:cNvSpPr/>
          <p:nvPr/>
        </p:nvSpPr>
        <p:spPr>
          <a:xfrm>
            <a:off x="4585716" y="2907792"/>
            <a:ext cx="731520" cy="731520"/>
          </a:xfrm>
          <a:prstGeom prst="ellipse">
            <a:avLst/>
          </a:prstGeom>
          <a:noFill/>
          <a:ln w="28575" cap="rnd">
            <a:solidFill>
              <a:srgbClr val="4D96FF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n</a:t>
            </a:r>
            <a:endParaRPr lang="en-GB" sz="3600" dirty="0"/>
          </a:p>
        </p:txBody>
      </p:sp>
      <p:sp>
        <p:nvSpPr>
          <p:cNvPr id="16" name="Letter circle 16"/>
          <p:cNvSpPr/>
          <p:nvPr/>
        </p:nvSpPr>
        <p:spPr>
          <a:xfrm>
            <a:off x="5454396" y="2907792"/>
            <a:ext cx="731520" cy="731520"/>
          </a:xfrm>
          <a:prstGeom prst="ellipse">
            <a:avLst/>
          </a:prstGeom>
          <a:noFill/>
          <a:ln w="28575" cap="rnd">
            <a:solidFill>
              <a:srgbClr val="4D96FF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a</a:t>
            </a:r>
            <a:endParaRPr lang="en-GB" sz="3600" dirty="0"/>
          </a:p>
        </p:txBody>
      </p:sp>
      <p:sp>
        <p:nvSpPr>
          <p:cNvPr id="17" name="Card 17"/>
          <p:cNvSpPr/>
          <p:nvPr/>
        </p:nvSpPr>
        <p:spPr>
          <a:xfrm>
            <a:off x="6611112" y="1645920"/>
            <a:ext cx="2834640" cy="2130552"/>
          </a:xfrm>
          <a:prstGeom prst="roundRect">
            <a:avLst>
              <a:gd name="adj" fmla="val 9000"/>
            </a:avLst>
          </a:prstGeom>
          <a:noFill/>
          <a:ln w="31750" cap="rnd">
            <a:solidFill>
              <a:srgbClr val="4D96FF"/>
            </a:solidFill>
            <a:prstDash val="solid"/>
            <a:round/>
          </a:ln>
        </p:spPr>
      </p:sp>
      <p:sp>
        <p:nvSpPr>
          <p:cNvPr id="18" name="Text 18"/>
          <p:cNvSpPr txBox="1"/>
          <p:nvPr/>
        </p:nvSpPr>
        <p:spPr>
          <a:xfrm>
            <a:off x="6611112" y="1719072"/>
            <a:ext cx="28346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 b="0" dirty="0">
                <a:solidFill>
                  <a:srgbClr val="2B2D42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🐯</a:t>
            </a:r>
            <a:endParaRPr lang="en-GB" sz="5000" dirty="0"/>
          </a:p>
        </p:txBody>
      </p:sp>
      <p:sp>
        <p:nvSpPr>
          <p:cNvPr id="19" name="Text 19"/>
          <p:cNvSpPr txBox="1"/>
          <p:nvPr/>
        </p:nvSpPr>
        <p:spPr>
          <a:xfrm>
            <a:off x="6611112" y="257860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6B6D85"/>
                </a:solidFill>
                <a:latin typeface="Calibri"/>
                <a:ea typeface="Calibri"/>
                <a:cs typeface="Calibri"/>
              </a:rPr>
              <a:t>tiger</a:t>
            </a:r>
            <a:endParaRPr lang="en-GB" sz="1100" dirty="0"/>
          </a:p>
        </p:txBody>
      </p:sp>
      <p:sp>
        <p:nvSpPr>
          <p:cNvPr id="20" name="Letter circle 20"/>
          <p:cNvSpPr/>
          <p:nvPr/>
        </p:nvSpPr>
        <p:spPr>
          <a:xfrm>
            <a:off x="6793992" y="2907792"/>
            <a:ext cx="731520" cy="731520"/>
          </a:xfrm>
          <a:prstGeom prst="ellipse">
            <a:avLst/>
          </a:prstGeom>
          <a:noFill/>
          <a:ln w="28575" cap="rnd">
            <a:solidFill>
              <a:srgbClr val="4D96FF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t</a:t>
            </a:r>
            <a:endParaRPr lang="en-GB" sz="3600" dirty="0"/>
          </a:p>
        </p:txBody>
      </p:sp>
      <p:sp>
        <p:nvSpPr>
          <p:cNvPr id="21" name="Letter circle 21"/>
          <p:cNvSpPr/>
          <p:nvPr/>
        </p:nvSpPr>
        <p:spPr>
          <a:xfrm>
            <a:off x="7662672" y="2907792"/>
            <a:ext cx="731520" cy="731520"/>
          </a:xfrm>
          <a:prstGeom prst="ellipse">
            <a:avLst/>
          </a:prstGeom>
          <a:noFill/>
          <a:ln w="28575" cap="rnd">
            <a:solidFill>
              <a:srgbClr val="4D96FF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i</a:t>
            </a:r>
            <a:endParaRPr lang="en-GB" sz="3600" dirty="0"/>
          </a:p>
        </p:txBody>
      </p:sp>
      <p:sp>
        <p:nvSpPr>
          <p:cNvPr id="22" name="Letter circle 22"/>
          <p:cNvSpPr/>
          <p:nvPr/>
        </p:nvSpPr>
        <p:spPr>
          <a:xfrm>
            <a:off x="8531352" y="2907792"/>
            <a:ext cx="731520" cy="731520"/>
          </a:xfrm>
          <a:prstGeom prst="ellipse">
            <a:avLst/>
          </a:prstGeom>
          <a:noFill/>
          <a:ln w="28575" cap="rnd">
            <a:solidFill>
              <a:srgbClr val="4D96FF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s</a:t>
            </a:r>
            <a:endParaRPr lang="en-GB" sz="3600" dirty="0"/>
          </a:p>
        </p:txBody>
      </p:sp>
      <p:sp>
        <p:nvSpPr>
          <p:cNvPr id="23" name="Card 23"/>
          <p:cNvSpPr/>
          <p:nvPr/>
        </p:nvSpPr>
        <p:spPr>
          <a:xfrm>
            <a:off x="457200" y="3931920"/>
            <a:ext cx="2834640" cy="2130552"/>
          </a:xfrm>
          <a:prstGeom prst="roundRect">
            <a:avLst>
              <a:gd name="adj" fmla="val 9000"/>
            </a:avLst>
          </a:prstGeom>
          <a:noFill/>
          <a:ln w="31750" cap="rnd">
            <a:solidFill>
              <a:srgbClr val="4D96FF"/>
            </a:solidFill>
            <a:prstDash val="solid"/>
            <a:round/>
          </a:ln>
        </p:spPr>
      </p:sp>
      <p:sp>
        <p:nvSpPr>
          <p:cNvPr id="24" name="Text 24"/>
          <p:cNvSpPr txBox="1"/>
          <p:nvPr/>
        </p:nvSpPr>
        <p:spPr>
          <a:xfrm>
            <a:off x="457200" y="4005072"/>
            <a:ext cx="28346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 b="0" dirty="0">
                <a:solidFill>
                  <a:srgbClr val="2B2D42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🐷</a:t>
            </a:r>
            <a:endParaRPr lang="en-GB" sz="5000" dirty="0"/>
          </a:p>
        </p:txBody>
      </p:sp>
      <p:sp>
        <p:nvSpPr>
          <p:cNvPr id="25" name="Text 25"/>
          <p:cNvSpPr txBox="1"/>
          <p:nvPr/>
        </p:nvSpPr>
        <p:spPr>
          <a:xfrm>
            <a:off x="457200" y="486460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6B6D85"/>
                </a:solidFill>
                <a:latin typeface="Calibri"/>
                <a:ea typeface="Calibri"/>
                <a:cs typeface="Calibri"/>
              </a:rPr>
              <a:t>pig</a:t>
            </a:r>
            <a:endParaRPr lang="en-GB" sz="1100" dirty="0"/>
          </a:p>
        </p:txBody>
      </p:sp>
      <p:sp>
        <p:nvSpPr>
          <p:cNvPr id="26" name="Letter circle 26"/>
          <p:cNvSpPr/>
          <p:nvPr/>
        </p:nvSpPr>
        <p:spPr>
          <a:xfrm>
            <a:off x="640080" y="5193792"/>
            <a:ext cx="731520" cy="731520"/>
          </a:xfrm>
          <a:prstGeom prst="ellipse">
            <a:avLst/>
          </a:prstGeom>
          <a:noFill/>
          <a:ln w="28575" cap="rnd">
            <a:solidFill>
              <a:srgbClr val="4D96FF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n</a:t>
            </a:r>
            <a:endParaRPr lang="en-GB" sz="3600" dirty="0"/>
          </a:p>
        </p:txBody>
      </p:sp>
      <p:sp>
        <p:nvSpPr>
          <p:cNvPr id="27" name="Letter circle 27"/>
          <p:cNvSpPr/>
          <p:nvPr/>
        </p:nvSpPr>
        <p:spPr>
          <a:xfrm>
            <a:off x="1508760" y="5193792"/>
            <a:ext cx="731520" cy="731520"/>
          </a:xfrm>
          <a:prstGeom prst="ellipse">
            <a:avLst/>
          </a:prstGeom>
          <a:noFill/>
          <a:ln w="28575" cap="rnd">
            <a:solidFill>
              <a:srgbClr val="4D96FF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a</a:t>
            </a:r>
            <a:endParaRPr lang="en-GB" sz="3600" dirty="0"/>
          </a:p>
        </p:txBody>
      </p:sp>
      <p:sp>
        <p:nvSpPr>
          <p:cNvPr id="28" name="Letter circle 28"/>
          <p:cNvSpPr/>
          <p:nvPr/>
        </p:nvSpPr>
        <p:spPr>
          <a:xfrm>
            <a:off x="2377440" y="5193792"/>
            <a:ext cx="731520" cy="731520"/>
          </a:xfrm>
          <a:prstGeom prst="ellipse">
            <a:avLst/>
          </a:prstGeom>
          <a:noFill/>
          <a:ln w="28575" cap="rnd">
            <a:solidFill>
              <a:srgbClr val="4D96FF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p</a:t>
            </a:r>
            <a:endParaRPr lang="en-GB" sz="3600" dirty="0"/>
          </a:p>
        </p:txBody>
      </p:sp>
      <p:sp>
        <p:nvSpPr>
          <p:cNvPr id="29" name="Card 29"/>
          <p:cNvSpPr/>
          <p:nvPr/>
        </p:nvSpPr>
        <p:spPr>
          <a:xfrm>
            <a:off x="3534156" y="3931920"/>
            <a:ext cx="2834640" cy="2130552"/>
          </a:xfrm>
          <a:prstGeom prst="roundRect">
            <a:avLst>
              <a:gd name="adj" fmla="val 9000"/>
            </a:avLst>
          </a:prstGeom>
          <a:noFill/>
          <a:ln w="31750" cap="rnd">
            <a:solidFill>
              <a:srgbClr val="4D96FF"/>
            </a:solidFill>
            <a:prstDash val="solid"/>
            <a:round/>
          </a:ln>
        </p:spPr>
      </p:sp>
      <p:sp>
        <p:nvSpPr>
          <p:cNvPr id="30" name="Text 30"/>
          <p:cNvSpPr txBox="1"/>
          <p:nvPr/>
        </p:nvSpPr>
        <p:spPr>
          <a:xfrm>
            <a:off x="3534156" y="4005072"/>
            <a:ext cx="28346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 b="0" dirty="0">
                <a:solidFill>
                  <a:srgbClr val="2B2D42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🌙</a:t>
            </a:r>
            <a:endParaRPr lang="en-GB" sz="5000" dirty="0"/>
          </a:p>
        </p:txBody>
      </p:sp>
      <p:sp>
        <p:nvSpPr>
          <p:cNvPr id="31" name="Text 31"/>
          <p:cNvSpPr txBox="1"/>
          <p:nvPr/>
        </p:nvSpPr>
        <p:spPr>
          <a:xfrm>
            <a:off x="3534156" y="486460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6B6D85"/>
                </a:solidFill>
                <a:latin typeface="Calibri"/>
                <a:ea typeface="Calibri"/>
                <a:cs typeface="Calibri"/>
              </a:rPr>
              <a:t>moon</a:t>
            </a:r>
            <a:endParaRPr lang="en-GB" sz="1100" dirty="0"/>
          </a:p>
        </p:txBody>
      </p:sp>
      <p:sp>
        <p:nvSpPr>
          <p:cNvPr id="32" name="Letter circle 32"/>
          <p:cNvSpPr/>
          <p:nvPr/>
        </p:nvSpPr>
        <p:spPr>
          <a:xfrm>
            <a:off x="3717036" y="5193792"/>
            <a:ext cx="731520" cy="731520"/>
          </a:xfrm>
          <a:prstGeom prst="ellipse">
            <a:avLst/>
          </a:prstGeom>
          <a:noFill/>
          <a:ln w="28575" cap="rnd">
            <a:solidFill>
              <a:srgbClr val="4D96FF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s</a:t>
            </a:r>
            <a:endParaRPr lang="en-GB" sz="3600" dirty="0"/>
          </a:p>
        </p:txBody>
      </p:sp>
      <p:sp>
        <p:nvSpPr>
          <p:cNvPr id="33" name="Letter circle 33"/>
          <p:cNvSpPr/>
          <p:nvPr/>
        </p:nvSpPr>
        <p:spPr>
          <a:xfrm>
            <a:off x="4585716" y="5193792"/>
            <a:ext cx="731520" cy="731520"/>
          </a:xfrm>
          <a:prstGeom prst="ellipse">
            <a:avLst/>
          </a:prstGeom>
          <a:noFill/>
          <a:ln w="28575" cap="rnd">
            <a:solidFill>
              <a:srgbClr val="4D96FF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m</a:t>
            </a:r>
            <a:endParaRPr lang="en-GB" sz="3600" dirty="0"/>
          </a:p>
        </p:txBody>
      </p:sp>
      <p:sp>
        <p:nvSpPr>
          <p:cNvPr id="34" name="Letter circle 34"/>
          <p:cNvSpPr/>
          <p:nvPr/>
        </p:nvSpPr>
        <p:spPr>
          <a:xfrm>
            <a:off x="5454396" y="5193792"/>
            <a:ext cx="731520" cy="731520"/>
          </a:xfrm>
          <a:prstGeom prst="ellipse">
            <a:avLst/>
          </a:prstGeom>
          <a:noFill/>
          <a:ln w="28575" cap="rnd">
            <a:solidFill>
              <a:srgbClr val="4D96FF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t</a:t>
            </a:r>
            <a:endParaRPr lang="en-GB" sz="3600" dirty="0"/>
          </a:p>
        </p:txBody>
      </p:sp>
      <p:sp>
        <p:nvSpPr>
          <p:cNvPr id="35" name="Card 35"/>
          <p:cNvSpPr/>
          <p:nvPr/>
        </p:nvSpPr>
        <p:spPr>
          <a:xfrm>
            <a:off x="6611112" y="3931920"/>
            <a:ext cx="2834640" cy="2130552"/>
          </a:xfrm>
          <a:prstGeom prst="roundRect">
            <a:avLst>
              <a:gd name="adj" fmla="val 9000"/>
            </a:avLst>
          </a:prstGeom>
          <a:noFill/>
          <a:ln w="31750" cap="rnd">
            <a:solidFill>
              <a:srgbClr val="4D96FF"/>
            </a:solidFill>
            <a:prstDash val="solid"/>
            <a:round/>
          </a:ln>
        </p:spPr>
      </p:sp>
      <p:sp>
        <p:nvSpPr>
          <p:cNvPr id="36" name="Text 36"/>
          <p:cNvSpPr txBox="1"/>
          <p:nvPr/>
        </p:nvSpPr>
        <p:spPr>
          <a:xfrm>
            <a:off x="6611112" y="4005072"/>
            <a:ext cx="28346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 b="0" dirty="0">
                <a:solidFill>
                  <a:srgbClr val="2B2D42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🥜</a:t>
            </a:r>
            <a:endParaRPr lang="en-GB" sz="5000" dirty="0"/>
          </a:p>
        </p:txBody>
      </p:sp>
      <p:sp>
        <p:nvSpPr>
          <p:cNvPr id="37" name="Text 37"/>
          <p:cNvSpPr txBox="1"/>
          <p:nvPr/>
        </p:nvSpPr>
        <p:spPr>
          <a:xfrm>
            <a:off x="6611112" y="486460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6B6D85"/>
                </a:solidFill>
                <a:latin typeface="Calibri"/>
                <a:ea typeface="Calibri"/>
                <a:cs typeface="Calibri"/>
              </a:rPr>
              <a:t>nut</a:t>
            </a:r>
            <a:endParaRPr lang="en-GB" sz="1100" dirty="0"/>
          </a:p>
        </p:txBody>
      </p:sp>
      <p:sp>
        <p:nvSpPr>
          <p:cNvPr id="38" name="Letter circle 38"/>
          <p:cNvSpPr/>
          <p:nvPr/>
        </p:nvSpPr>
        <p:spPr>
          <a:xfrm>
            <a:off x="6793992" y="5193792"/>
            <a:ext cx="731520" cy="731520"/>
          </a:xfrm>
          <a:prstGeom prst="ellipse">
            <a:avLst/>
          </a:prstGeom>
          <a:noFill/>
          <a:ln w="28575" cap="rnd">
            <a:solidFill>
              <a:srgbClr val="4D96FF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n</a:t>
            </a:r>
            <a:endParaRPr lang="en-GB" sz="3600" dirty="0"/>
          </a:p>
        </p:txBody>
      </p:sp>
      <p:sp>
        <p:nvSpPr>
          <p:cNvPr id="39" name="Letter circle 39"/>
          <p:cNvSpPr/>
          <p:nvPr/>
        </p:nvSpPr>
        <p:spPr>
          <a:xfrm>
            <a:off x="7662672" y="5193792"/>
            <a:ext cx="731520" cy="731520"/>
          </a:xfrm>
          <a:prstGeom prst="ellipse">
            <a:avLst/>
          </a:prstGeom>
          <a:noFill/>
          <a:ln w="28575" cap="rnd">
            <a:solidFill>
              <a:srgbClr val="4D96FF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p</a:t>
            </a:r>
            <a:endParaRPr lang="en-GB" sz="3600" dirty="0"/>
          </a:p>
        </p:txBody>
      </p:sp>
      <p:sp>
        <p:nvSpPr>
          <p:cNvPr id="40" name="Letter circle 40"/>
          <p:cNvSpPr/>
          <p:nvPr/>
        </p:nvSpPr>
        <p:spPr>
          <a:xfrm>
            <a:off x="8531352" y="5193792"/>
            <a:ext cx="731520" cy="731520"/>
          </a:xfrm>
          <a:prstGeom prst="ellipse">
            <a:avLst/>
          </a:prstGeom>
          <a:noFill/>
          <a:ln w="28575" cap="rnd">
            <a:solidFill>
              <a:srgbClr val="4D96FF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i</a:t>
            </a:r>
            <a:endParaRPr lang="en-GB" sz="3600" dirty="0"/>
          </a:p>
        </p:txBody>
      </p:sp>
      <p:sp>
        <p:nvSpPr>
          <p:cNvPr id="41" name="Text 41"/>
          <p:cNvSpPr txBox="1"/>
          <p:nvPr/>
        </p:nvSpPr>
        <p:spPr>
          <a:xfrm>
            <a:off x="457200" y="6144768"/>
            <a:ext cx="898855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6B6D85"/>
                </a:solidFill>
                <a:latin typeface="Calibri"/>
                <a:ea typeface="Calibri"/>
                <a:cs typeface="Calibri"/>
              </a:rPr>
              <a:t>Grown-ups:</a:t>
            </a:r>
            <a:r>
              <a:rPr lang="en-GB" sz="1200" b="0" dirty="0">
                <a:solidFill>
                  <a:srgbClr val="6B6D85"/>
                </a:solidFill>
                <a:latin typeface="Calibri"/>
                <a:ea typeface="Calibri"/>
                <a:cs typeface="Calibri"/>
              </a:rPr>
              <a:t> stretch the first sound, “sssun”, then let your child choose.</a:t>
            </a:r>
            <a:endParaRPr lang="en-GB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ame icon 2"/>
          <p:cNvSpPr/>
          <p:nvPr/>
        </p:nvSpPr>
        <p:spPr>
          <a:xfrm>
            <a:off x="457200" y="365760"/>
            <a:ext cx="914400" cy="914400"/>
          </a:xfrm>
          <a:prstGeom prst="ellipse">
            <a:avLst/>
          </a:prstGeom>
          <a:solidFill>
            <a:srgbClr val="F3ECFC"/>
          </a:solidFill>
          <a:ln w="38100" cap="rnd">
            <a:solidFill>
              <a:srgbClr val="9B5DE5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0" dirty="0">
                <a:solidFill>
                  <a:srgbClr val="2B2D42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🃏</a:t>
            </a:r>
            <a:endParaRPr lang="en-GB" sz="3200" dirty="0"/>
          </a:p>
        </p:txBody>
      </p:sp>
      <p:sp>
        <p:nvSpPr>
          <p:cNvPr id="3" name="Text 3"/>
          <p:cNvSpPr txBox="1"/>
          <p:nvPr/>
        </p:nvSpPr>
        <p:spPr>
          <a:xfrm>
            <a:off x="1572768" y="329184"/>
            <a:ext cx="7223760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9B5DE5"/>
                </a:solidFill>
                <a:latin typeface="Comic Sans MS"/>
                <a:ea typeface="Comic Sans MS"/>
                <a:cs typeface="Comic Sans MS"/>
              </a:rPr>
              <a:t>Big &amp; little letter match</a:t>
            </a:r>
            <a:endParaRPr lang="en-GB" sz="3600" dirty="0"/>
          </a:p>
        </p:txBody>
      </p:sp>
      <p:sp>
        <p:nvSpPr>
          <p:cNvPr id="4" name="Text 4"/>
          <p:cNvSpPr txBox="1"/>
          <p:nvPr/>
        </p:nvSpPr>
        <p:spPr>
          <a:xfrm>
            <a:off x="1572768" y="1005840"/>
            <a:ext cx="722376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0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Cut out the cards, turn them face down, and find the pairs!</a:t>
            </a:r>
            <a:endParaRPr lang="en-GB" sz="1900" dirty="0"/>
          </a:p>
        </p:txBody>
      </p:sp>
      <p:sp>
        <p:nvSpPr>
          <p:cNvPr id="5" name="Cut card 5"/>
          <p:cNvSpPr/>
          <p:nvPr/>
        </p:nvSpPr>
        <p:spPr>
          <a:xfrm>
            <a:off x="586588" y="1737360"/>
            <a:ext cx="2011680" cy="1325880"/>
          </a:xfrm>
          <a:prstGeom prst="roundRect">
            <a:avLst>
              <a:gd name="adj" fmla="val 10000"/>
            </a:avLst>
          </a:prstGeom>
          <a:noFill/>
          <a:ln w="19050" cap="rnd">
            <a:solidFill>
              <a:srgbClr val="6B6D85"/>
            </a:solidFill>
            <a:prstDash val="dash"/>
            <a:round/>
          </a:ln>
        </p:spPr>
      </p:sp>
      <p:sp>
        <p:nvSpPr>
          <p:cNvPr id="6" name="Card face 6"/>
          <p:cNvSpPr/>
          <p:nvPr/>
        </p:nvSpPr>
        <p:spPr>
          <a:xfrm>
            <a:off x="696316" y="1847088"/>
            <a:ext cx="1792224" cy="1106424"/>
          </a:xfrm>
          <a:prstGeom prst="roundRect">
            <a:avLst>
              <a:gd name="adj" fmla="val 10000"/>
            </a:avLst>
          </a:prstGeom>
          <a:solidFill>
            <a:srgbClr val="F5EFFC"/>
          </a:solidFill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 b="1" dirty="0">
                <a:solidFill>
                  <a:srgbClr val="FF6B6B"/>
                </a:solidFill>
                <a:latin typeface="Comic Sans MS"/>
                <a:ea typeface="Comic Sans MS"/>
                <a:cs typeface="Comic Sans MS"/>
              </a:rPr>
              <a:t>S</a:t>
            </a:r>
            <a:endParaRPr lang="en-GB" sz="6000" dirty="0"/>
          </a:p>
        </p:txBody>
      </p:sp>
      <p:sp>
        <p:nvSpPr>
          <p:cNvPr id="7" name="Cut card 7"/>
          <p:cNvSpPr/>
          <p:nvPr/>
        </p:nvSpPr>
        <p:spPr>
          <a:xfrm>
            <a:off x="2826868" y="1737360"/>
            <a:ext cx="2011680" cy="1325880"/>
          </a:xfrm>
          <a:prstGeom prst="roundRect">
            <a:avLst>
              <a:gd name="adj" fmla="val 10000"/>
            </a:avLst>
          </a:prstGeom>
          <a:noFill/>
          <a:ln w="19050" cap="rnd">
            <a:solidFill>
              <a:srgbClr val="6B6D85"/>
            </a:solidFill>
            <a:prstDash val="dash"/>
            <a:round/>
          </a:ln>
        </p:spPr>
      </p:sp>
      <p:sp>
        <p:nvSpPr>
          <p:cNvPr id="8" name="Card face 8"/>
          <p:cNvSpPr/>
          <p:nvPr/>
        </p:nvSpPr>
        <p:spPr>
          <a:xfrm>
            <a:off x="2936596" y="1847088"/>
            <a:ext cx="1792224" cy="1106424"/>
          </a:xfrm>
          <a:prstGeom prst="roundRect">
            <a:avLst>
              <a:gd name="adj" fmla="val 10000"/>
            </a:avLst>
          </a:prstGeom>
          <a:solidFill>
            <a:srgbClr val="F5EFFC"/>
          </a:solidFill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 b="1" dirty="0">
                <a:solidFill>
                  <a:srgbClr val="4D96FF"/>
                </a:solidFill>
                <a:latin typeface="Comic Sans MS"/>
                <a:ea typeface="Comic Sans MS"/>
                <a:cs typeface="Comic Sans MS"/>
              </a:rPr>
              <a:t>a</a:t>
            </a:r>
            <a:endParaRPr lang="en-GB" sz="6000" dirty="0"/>
          </a:p>
        </p:txBody>
      </p:sp>
      <p:sp>
        <p:nvSpPr>
          <p:cNvPr id="9" name="Cut card 9"/>
          <p:cNvSpPr/>
          <p:nvPr/>
        </p:nvSpPr>
        <p:spPr>
          <a:xfrm>
            <a:off x="5067148" y="1737360"/>
            <a:ext cx="2011680" cy="1325880"/>
          </a:xfrm>
          <a:prstGeom prst="roundRect">
            <a:avLst>
              <a:gd name="adj" fmla="val 10000"/>
            </a:avLst>
          </a:prstGeom>
          <a:noFill/>
          <a:ln w="19050" cap="rnd">
            <a:solidFill>
              <a:srgbClr val="6B6D85"/>
            </a:solidFill>
            <a:prstDash val="dash"/>
            <a:round/>
          </a:ln>
        </p:spPr>
      </p:sp>
      <p:sp>
        <p:nvSpPr>
          <p:cNvPr id="10" name="Card face 10"/>
          <p:cNvSpPr/>
          <p:nvPr/>
        </p:nvSpPr>
        <p:spPr>
          <a:xfrm>
            <a:off x="5176876" y="1847088"/>
            <a:ext cx="1792224" cy="1106424"/>
          </a:xfrm>
          <a:prstGeom prst="roundRect">
            <a:avLst>
              <a:gd name="adj" fmla="val 10000"/>
            </a:avLst>
          </a:prstGeom>
          <a:solidFill>
            <a:srgbClr val="F5EFFC"/>
          </a:solidFill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 b="1" dirty="0">
                <a:solidFill>
                  <a:srgbClr val="9B5DE5"/>
                </a:solidFill>
                <a:latin typeface="Comic Sans MS"/>
                <a:ea typeface="Comic Sans MS"/>
                <a:cs typeface="Comic Sans MS"/>
              </a:rPr>
              <a:t>T</a:t>
            </a:r>
            <a:endParaRPr lang="en-GB" sz="6000" dirty="0"/>
          </a:p>
        </p:txBody>
      </p:sp>
      <p:sp>
        <p:nvSpPr>
          <p:cNvPr id="11" name="Cut card 11"/>
          <p:cNvSpPr/>
          <p:nvPr/>
        </p:nvSpPr>
        <p:spPr>
          <a:xfrm>
            <a:off x="7307428" y="1737360"/>
            <a:ext cx="2011680" cy="1325880"/>
          </a:xfrm>
          <a:prstGeom prst="roundRect">
            <a:avLst>
              <a:gd name="adj" fmla="val 10000"/>
            </a:avLst>
          </a:prstGeom>
          <a:noFill/>
          <a:ln w="19050" cap="rnd">
            <a:solidFill>
              <a:srgbClr val="6B6D85"/>
            </a:solidFill>
            <a:prstDash val="dash"/>
            <a:round/>
          </a:ln>
        </p:spPr>
      </p:sp>
      <p:sp>
        <p:nvSpPr>
          <p:cNvPr id="12" name="Card face 12"/>
          <p:cNvSpPr/>
          <p:nvPr/>
        </p:nvSpPr>
        <p:spPr>
          <a:xfrm>
            <a:off x="7417156" y="1847088"/>
            <a:ext cx="1792224" cy="1106424"/>
          </a:xfrm>
          <a:prstGeom prst="roundRect">
            <a:avLst>
              <a:gd name="adj" fmla="val 10000"/>
            </a:avLst>
          </a:prstGeom>
          <a:solidFill>
            <a:srgbClr val="F5EFFC"/>
          </a:solidFill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n</a:t>
            </a:r>
            <a:endParaRPr lang="en-GB" sz="6000" dirty="0"/>
          </a:p>
        </p:txBody>
      </p:sp>
      <p:sp>
        <p:nvSpPr>
          <p:cNvPr id="13" name="Cut card 13"/>
          <p:cNvSpPr/>
          <p:nvPr/>
        </p:nvSpPr>
        <p:spPr>
          <a:xfrm>
            <a:off x="586588" y="3200400"/>
            <a:ext cx="2011680" cy="1325880"/>
          </a:xfrm>
          <a:prstGeom prst="roundRect">
            <a:avLst>
              <a:gd name="adj" fmla="val 10000"/>
            </a:avLst>
          </a:prstGeom>
          <a:noFill/>
          <a:ln w="19050" cap="rnd">
            <a:solidFill>
              <a:srgbClr val="6B6D85"/>
            </a:solidFill>
            <a:prstDash val="dash"/>
            <a:round/>
          </a:ln>
        </p:spPr>
      </p:sp>
      <p:sp>
        <p:nvSpPr>
          <p:cNvPr id="14" name="Card face 14"/>
          <p:cNvSpPr/>
          <p:nvPr/>
        </p:nvSpPr>
        <p:spPr>
          <a:xfrm>
            <a:off x="696316" y="3310128"/>
            <a:ext cx="1792224" cy="1106424"/>
          </a:xfrm>
          <a:prstGeom prst="roundRect">
            <a:avLst>
              <a:gd name="adj" fmla="val 10000"/>
            </a:avLst>
          </a:prstGeom>
          <a:solidFill>
            <a:srgbClr val="F5EFFC"/>
          </a:solidFill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 b="1" dirty="0">
                <a:solidFill>
                  <a:srgbClr val="2A9D8F"/>
                </a:solidFill>
                <a:latin typeface="Comic Sans MS"/>
                <a:ea typeface="Comic Sans MS"/>
                <a:cs typeface="Comic Sans MS"/>
              </a:rPr>
              <a:t>i</a:t>
            </a:r>
            <a:endParaRPr lang="en-GB" sz="6000" dirty="0"/>
          </a:p>
        </p:txBody>
      </p:sp>
      <p:sp>
        <p:nvSpPr>
          <p:cNvPr id="15" name="Cut card 15"/>
          <p:cNvSpPr/>
          <p:nvPr/>
        </p:nvSpPr>
        <p:spPr>
          <a:xfrm>
            <a:off x="2826868" y="3200400"/>
            <a:ext cx="2011680" cy="1325880"/>
          </a:xfrm>
          <a:prstGeom prst="roundRect">
            <a:avLst>
              <a:gd name="adj" fmla="val 10000"/>
            </a:avLst>
          </a:prstGeom>
          <a:noFill/>
          <a:ln w="19050" cap="rnd">
            <a:solidFill>
              <a:srgbClr val="6B6D85"/>
            </a:solidFill>
            <a:prstDash val="dash"/>
            <a:round/>
          </a:ln>
        </p:spPr>
      </p:sp>
      <p:sp>
        <p:nvSpPr>
          <p:cNvPr id="16" name="Card face 16"/>
          <p:cNvSpPr/>
          <p:nvPr/>
        </p:nvSpPr>
        <p:spPr>
          <a:xfrm>
            <a:off x="2936596" y="3310128"/>
            <a:ext cx="1792224" cy="1106424"/>
          </a:xfrm>
          <a:prstGeom prst="roundRect">
            <a:avLst>
              <a:gd name="adj" fmla="val 10000"/>
            </a:avLst>
          </a:prstGeom>
          <a:solidFill>
            <a:srgbClr val="F5EFFC"/>
          </a:solidFill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 b="1" dirty="0">
                <a:solidFill>
                  <a:srgbClr val="F15BB5"/>
                </a:solidFill>
                <a:latin typeface="Comic Sans MS"/>
                <a:ea typeface="Comic Sans MS"/>
                <a:cs typeface="Comic Sans MS"/>
              </a:rPr>
              <a:t>P</a:t>
            </a:r>
            <a:endParaRPr lang="en-GB" sz="6000" dirty="0"/>
          </a:p>
        </p:txBody>
      </p:sp>
      <p:sp>
        <p:nvSpPr>
          <p:cNvPr id="17" name="Cut card 17"/>
          <p:cNvSpPr/>
          <p:nvPr/>
        </p:nvSpPr>
        <p:spPr>
          <a:xfrm>
            <a:off x="5067148" y="3200400"/>
            <a:ext cx="2011680" cy="1325880"/>
          </a:xfrm>
          <a:prstGeom prst="roundRect">
            <a:avLst>
              <a:gd name="adj" fmla="val 10000"/>
            </a:avLst>
          </a:prstGeom>
          <a:noFill/>
          <a:ln w="19050" cap="rnd">
            <a:solidFill>
              <a:srgbClr val="6B6D85"/>
            </a:solidFill>
            <a:prstDash val="dash"/>
            <a:round/>
          </a:ln>
        </p:spPr>
      </p:sp>
      <p:sp>
        <p:nvSpPr>
          <p:cNvPr id="18" name="Card face 18"/>
          <p:cNvSpPr/>
          <p:nvPr/>
        </p:nvSpPr>
        <p:spPr>
          <a:xfrm>
            <a:off x="5176876" y="3310128"/>
            <a:ext cx="1792224" cy="1106424"/>
          </a:xfrm>
          <a:prstGeom prst="roundRect">
            <a:avLst>
              <a:gd name="adj" fmla="val 10000"/>
            </a:avLst>
          </a:prstGeom>
          <a:solidFill>
            <a:srgbClr val="F5EFFC"/>
          </a:solidFill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 b="1" dirty="0">
                <a:solidFill>
                  <a:srgbClr val="FF6B6B"/>
                </a:solidFill>
                <a:latin typeface="Comic Sans MS"/>
                <a:ea typeface="Comic Sans MS"/>
                <a:cs typeface="Comic Sans MS"/>
              </a:rPr>
              <a:t>s</a:t>
            </a:r>
            <a:endParaRPr lang="en-GB" sz="6000" dirty="0"/>
          </a:p>
        </p:txBody>
      </p:sp>
      <p:sp>
        <p:nvSpPr>
          <p:cNvPr id="19" name="Cut card 19"/>
          <p:cNvSpPr/>
          <p:nvPr/>
        </p:nvSpPr>
        <p:spPr>
          <a:xfrm>
            <a:off x="7307428" y="3200400"/>
            <a:ext cx="2011680" cy="1325880"/>
          </a:xfrm>
          <a:prstGeom prst="roundRect">
            <a:avLst>
              <a:gd name="adj" fmla="val 10000"/>
            </a:avLst>
          </a:prstGeom>
          <a:noFill/>
          <a:ln w="19050" cap="rnd">
            <a:solidFill>
              <a:srgbClr val="6B6D85"/>
            </a:solidFill>
            <a:prstDash val="dash"/>
            <a:round/>
          </a:ln>
        </p:spPr>
      </p:sp>
      <p:sp>
        <p:nvSpPr>
          <p:cNvPr id="20" name="Card face 20"/>
          <p:cNvSpPr/>
          <p:nvPr/>
        </p:nvSpPr>
        <p:spPr>
          <a:xfrm>
            <a:off x="7417156" y="3310128"/>
            <a:ext cx="1792224" cy="1106424"/>
          </a:xfrm>
          <a:prstGeom prst="roundRect">
            <a:avLst>
              <a:gd name="adj" fmla="val 10000"/>
            </a:avLst>
          </a:prstGeom>
          <a:solidFill>
            <a:srgbClr val="F5EFFC"/>
          </a:solidFill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 b="1" dirty="0">
                <a:solidFill>
                  <a:srgbClr val="4D96FF"/>
                </a:solidFill>
                <a:latin typeface="Comic Sans MS"/>
                <a:ea typeface="Comic Sans MS"/>
                <a:cs typeface="Comic Sans MS"/>
              </a:rPr>
              <a:t>A</a:t>
            </a:r>
            <a:endParaRPr lang="en-GB" sz="6000" dirty="0"/>
          </a:p>
        </p:txBody>
      </p:sp>
      <p:sp>
        <p:nvSpPr>
          <p:cNvPr id="21" name="Cut card 21"/>
          <p:cNvSpPr/>
          <p:nvPr/>
        </p:nvSpPr>
        <p:spPr>
          <a:xfrm>
            <a:off x="586588" y="4663440"/>
            <a:ext cx="2011680" cy="1325880"/>
          </a:xfrm>
          <a:prstGeom prst="roundRect">
            <a:avLst>
              <a:gd name="adj" fmla="val 10000"/>
            </a:avLst>
          </a:prstGeom>
          <a:noFill/>
          <a:ln w="19050" cap="rnd">
            <a:solidFill>
              <a:srgbClr val="6B6D85"/>
            </a:solidFill>
            <a:prstDash val="dash"/>
            <a:round/>
          </a:ln>
        </p:spPr>
      </p:sp>
      <p:sp>
        <p:nvSpPr>
          <p:cNvPr id="22" name="Card face 22"/>
          <p:cNvSpPr/>
          <p:nvPr/>
        </p:nvSpPr>
        <p:spPr>
          <a:xfrm>
            <a:off x="696316" y="4773168"/>
            <a:ext cx="1792224" cy="1106424"/>
          </a:xfrm>
          <a:prstGeom prst="roundRect">
            <a:avLst>
              <a:gd name="adj" fmla="val 10000"/>
            </a:avLst>
          </a:prstGeom>
          <a:solidFill>
            <a:srgbClr val="F5EFFC"/>
          </a:solidFill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 b="1" dirty="0">
                <a:solidFill>
                  <a:srgbClr val="9B5DE5"/>
                </a:solidFill>
                <a:latin typeface="Comic Sans MS"/>
                <a:ea typeface="Comic Sans MS"/>
                <a:cs typeface="Comic Sans MS"/>
              </a:rPr>
              <a:t>t</a:t>
            </a:r>
            <a:endParaRPr lang="en-GB" sz="6000" dirty="0"/>
          </a:p>
        </p:txBody>
      </p:sp>
      <p:sp>
        <p:nvSpPr>
          <p:cNvPr id="23" name="Cut card 23"/>
          <p:cNvSpPr/>
          <p:nvPr/>
        </p:nvSpPr>
        <p:spPr>
          <a:xfrm>
            <a:off x="2826868" y="4663440"/>
            <a:ext cx="2011680" cy="1325880"/>
          </a:xfrm>
          <a:prstGeom prst="roundRect">
            <a:avLst>
              <a:gd name="adj" fmla="val 10000"/>
            </a:avLst>
          </a:prstGeom>
          <a:noFill/>
          <a:ln w="19050" cap="rnd">
            <a:solidFill>
              <a:srgbClr val="6B6D85"/>
            </a:solidFill>
            <a:prstDash val="dash"/>
            <a:round/>
          </a:ln>
        </p:spPr>
      </p:sp>
      <p:sp>
        <p:nvSpPr>
          <p:cNvPr id="24" name="Card face 24"/>
          <p:cNvSpPr/>
          <p:nvPr/>
        </p:nvSpPr>
        <p:spPr>
          <a:xfrm>
            <a:off x="2936596" y="4773168"/>
            <a:ext cx="1792224" cy="1106424"/>
          </a:xfrm>
          <a:prstGeom prst="roundRect">
            <a:avLst>
              <a:gd name="adj" fmla="val 10000"/>
            </a:avLst>
          </a:prstGeom>
          <a:solidFill>
            <a:srgbClr val="F5EFFC"/>
          </a:solidFill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N</a:t>
            </a:r>
            <a:endParaRPr lang="en-GB" sz="6000" dirty="0"/>
          </a:p>
        </p:txBody>
      </p:sp>
      <p:sp>
        <p:nvSpPr>
          <p:cNvPr id="25" name="Cut card 25"/>
          <p:cNvSpPr/>
          <p:nvPr/>
        </p:nvSpPr>
        <p:spPr>
          <a:xfrm>
            <a:off x="5067148" y="4663440"/>
            <a:ext cx="2011680" cy="1325880"/>
          </a:xfrm>
          <a:prstGeom prst="roundRect">
            <a:avLst>
              <a:gd name="adj" fmla="val 10000"/>
            </a:avLst>
          </a:prstGeom>
          <a:noFill/>
          <a:ln w="19050" cap="rnd">
            <a:solidFill>
              <a:srgbClr val="6B6D85"/>
            </a:solidFill>
            <a:prstDash val="dash"/>
            <a:round/>
          </a:ln>
        </p:spPr>
      </p:sp>
      <p:sp>
        <p:nvSpPr>
          <p:cNvPr id="26" name="Card face 26"/>
          <p:cNvSpPr/>
          <p:nvPr/>
        </p:nvSpPr>
        <p:spPr>
          <a:xfrm>
            <a:off x="5176876" y="4773168"/>
            <a:ext cx="1792224" cy="1106424"/>
          </a:xfrm>
          <a:prstGeom prst="roundRect">
            <a:avLst>
              <a:gd name="adj" fmla="val 10000"/>
            </a:avLst>
          </a:prstGeom>
          <a:solidFill>
            <a:srgbClr val="F5EFFC"/>
          </a:solidFill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 b="1" dirty="0">
                <a:solidFill>
                  <a:srgbClr val="F15BB5"/>
                </a:solidFill>
                <a:latin typeface="Comic Sans MS"/>
                <a:ea typeface="Comic Sans MS"/>
                <a:cs typeface="Comic Sans MS"/>
              </a:rPr>
              <a:t>p</a:t>
            </a:r>
            <a:endParaRPr lang="en-GB" sz="6000" dirty="0"/>
          </a:p>
        </p:txBody>
      </p:sp>
      <p:sp>
        <p:nvSpPr>
          <p:cNvPr id="27" name="Cut card 27"/>
          <p:cNvSpPr/>
          <p:nvPr/>
        </p:nvSpPr>
        <p:spPr>
          <a:xfrm>
            <a:off x="7307428" y="4663440"/>
            <a:ext cx="2011680" cy="1325880"/>
          </a:xfrm>
          <a:prstGeom prst="roundRect">
            <a:avLst>
              <a:gd name="adj" fmla="val 10000"/>
            </a:avLst>
          </a:prstGeom>
          <a:noFill/>
          <a:ln w="19050" cap="rnd">
            <a:solidFill>
              <a:srgbClr val="6B6D85"/>
            </a:solidFill>
            <a:prstDash val="dash"/>
            <a:round/>
          </a:ln>
        </p:spPr>
      </p:sp>
      <p:sp>
        <p:nvSpPr>
          <p:cNvPr id="28" name="Card face 28"/>
          <p:cNvSpPr/>
          <p:nvPr/>
        </p:nvSpPr>
        <p:spPr>
          <a:xfrm>
            <a:off x="7417156" y="4773168"/>
            <a:ext cx="1792224" cy="1106424"/>
          </a:xfrm>
          <a:prstGeom prst="roundRect">
            <a:avLst>
              <a:gd name="adj" fmla="val 10000"/>
            </a:avLst>
          </a:prstGeom>
          <a:solidFill>
            <a:srgbClr val="F5EFFC"/>
          </a:solidFill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 b="1" dirty="0">
                <a:solidFill>
                  <a:srgbClr val="2A9D8F"/>
                </a:solidFill>
                <a:latin typeface="Comic Sans MS"/>
                <a:ea typeface="Comic Sans MS"/>
                <a:cs typeface="Comic Sans MS"/>
              </a:rPr>
              <a:t>I</a:t>
            </a:r>
            <a:endParaRPr lang="en-GB" sz="6000" dirty="0"/>
          </a:p>
        </p:txBody>
      </p:sp>
      <p:sp>
        <p:nvSpPr>
          <p:cNvPr id="29" name="Text 29"/>
          <p:cNvSpPr txBox="1"/>
          <p:nvPr/>
        </p:nvSpPr>
        <p:spPr>
          <a:xfrm>
            <a:off x="8816188" y="1152144"/>
            <a:ext cx="5029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0" dirty="0">
                <a:solidFill>
                  <a:srgbClr val="2B2D42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✂</a:t>
            </a:r>
            <a:endParaRPr lang="en-GB" sz="2200" dirty="0"/>
          </a:p>
        </p:txBody>
      </p:sp>
      <p:sp>
        <p:nvSpPr>
          <p:cNvPr id="30" name="Text 30"/>
          <p:cNvSpPr txBox="1"/>
          <p:nvPr/>
        </p:nvSpPr>
        <p:spPr>
          <a:xfrm>
            <a:off x="457200" y="6144768"/>
            <a:ext cx="898855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6B6D85"/>
                </a:solidFill>
                <a:latin typeface="Calibri"/>
                <a:ea typeface="Calibri"/>
                <a:cs typeface="Calibri"/>
              </a:rPr>
              <a:t>Grown-ups:</a:t>
            </a:r>
            <a:r>
              <a:rPr lang="en-GB" sz="1200" b="0" dirty="0">
                <a:solidFill>
                  <a:srgbClr val="6B6D85"/>
                </a:solidFill>
                <a:latin typeface="Calibri"/>
                <a:ea typeface="Calibri"/>
                <a:cs typeface="Calibri"/>
              </a:rPr>
              <a:t> when you find a pair, say the letter name and its sound: “s says sss”.</a:t>
            </a:r>
            <a:endParaRPr lang="en-GB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ame icon 2"/>
          <p:cNvSpPr/>
          <p:nvPr/>
        </p:nvSpPr>
        <p:spPr>
          <a:xfrm>
            <a:off x="457200" y="365760"/>
            <a:ext cx="914400" cy="914400"/>
          </a:xfrm>
          <a:prstGeom prst="ellipse">
            <a:avLst/>
          </a:prstGeom>
          <a:solidFill>
            <a:srgbClr val="FDEBF6"/>
          </a:solidFill>
          <a:ln w="38100" cap="rnd">
            <a:solidFill>
              <a:srgbClr val="F15BB5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0" dirty="0">
                <a:solidFill>
                  <a:srgbClr val="2B2D42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🎵</a:t>
            </a:r>
            <a:endParaRPr lang="en-GB" sz="3200" dirty="0"/>
          </a:p>
        </p:txBody>
      </p:sp>
      <p:sp>
        <p:nvSpPr>
          <p:cNvPr id="3" name="Text 3"/>
          <p:cNvSpPr txBox="1"/>
          <p:nvPr/>
        </p:nvSpPr>
        <p:spPr>
          <a:xfrm>
            <a:off x="1572768" y="329184"/>
            <a:ext cx="7863840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F15BB5"/>
                </a:solidFill>
                <a:latin typeface="Comic Sans MS"/>
                <a:ea typeface="Comic Sans MS"/>
                <a:cs typeface="Comic Sans MS"/>
              </a:rPr>
              <a:t>Draw a line to the rhyme</a:t>
            </a:r>
            <a:endParaRPr lang="en-GB" sz="3600" dirty="0"/>
          </a:p>
        </p:txBody>
      </p:sp>
      <p:sp>
        <p:nvSpPr>
          <p:cNvPr id="4" name="Text 4"/>
          <p:cNvSpPr txBox="1"/>
          <p:nvPr/>
        </p:nvSpPr>
        <p:spPr>
          <a:xfrm>
            <a:off x="1572768" y="1005840"/>
            <a:ext cx="78638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0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Join the pictures that rhyme.</a:t>
            </a:r>
            <a:endParaRPr lang="en-GB" sz="1900" dirty="0"/>
          </a:p>
        </p:txBody>
      </p:sp>
      <p:sp>
        <p:nvSpPr>
          <p:cNvPr id="5" name="Picture 5"/>
          <p:cNvSpPr/>
          <p:nvPr/>
        </p:nvSpPr>
        <p:spPr>
          <a:xfrm>
            <a:off x="1737360" y="1481328"/>
            <a:ext cx="859536" cy="859536"/>
          </a:xfrm>
          <a:prstGeom prst="ellipse">
            <a:avLst/>
          </a:prstGeom>
          <a:solidFill>
            <a:srgbClr val="FEEFF8"/>
          </a:solidFill>
          <a:ln w="31750" cap="rnd">
            <a:solidFill>
              <a:srgbClr val="F15BB5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b="0" dirty="0">
                <a:solidFill>
                  <a:srgbClr val="2B2D42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🐱</a:t>
            </a:r>
            <a:endParaRPr lang="en-GB" sz="4400" dirty="0"/>
          </a:p>
        </p:txBody>
      </p:sp>
      <p:sp>
        <p:nvSpPr>
          <p:cNvPr id="6" name="Dot 6"/>
          <p:cNvSpPr/>
          <p:nvPr/>
        </p:nvSpPr>
        <p:spPr>
          <a:xfrm>
            <a:off x="2706624" y="1828800"/>
            <a:ext cx="164592" cy="164592"/>
          </a:xfrm>
          <a:prstGeom prst="ellipse">
            <a:avLst/>
          </a:prstGeom>
          <a:solidFill>
            <a:srgbClr val="F15BB5"/>
          </a:solidFill>
          <a:ln w="12700" cap="rnd">
            <a:solidFill>
              <a:srgbClr val="F15BB5"/>
            </a:solidFill>
            <a:prstDash val="solid"/>
            <a:round/>
          </a:ln>
        </p:spPr>
      </p:sp>
      <p:sp>
        <p:nvSpPr>
          <p:cNvPr id="7" name="Text 7"/>
          <p:cNvSpPr txBox="1"/>
          <p:nvPr/>
        </p:nvSpPr>
        <p:spPr>
          <a:xfrm>
            <a:off x="822960" y="1481328"/>
            <a:ext cx="82296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dirty="0">
                <a:solidFill>
                  <a:srgbClr val="6B6D85"/>
                </a:solidFill>
                <a:latin typeface="Calibri"/>
                <a:ea typeface="Calibri"/>
                <a:cs typeface="Calibri"/>
              </a:rPr>
              <a:t>cat</a:t>
            </a:r>
            <a:endParaRPr lang="en-GB" sz="1400" dirty="0"/>
          </a:p>
        </p:txBody>
      </p:sp>
      <p:sp>
        <p:nvSpPr>
          <p:cNvPr id="8" name="Picture 8"/>
          <p:cNvSpPr/>
          <p:nvPr/>
        </p:nvSpPr>
        <p:spPr>
          <a:xfrm>
            <a:off x="7308799" y="1481328"/>
            <a:ext cx="859536" cy="859536"/>
          </a:xfrm>
          <a:prstGeom prst="ellipse">
            <a:avLst/>
          </a:prstGeom>
          <a:solidFill>
            <a:srgbClr val="FEEFF8"/>
          </a:solidFill>
          <a:ln w="31750" cap="rnd">
            <a:solidFill>
              <a:srgbClr val="F15BB5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b="0" dirty="0">
                <a:solidFill>
                  <a:srgbClr val="2B2D42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🏠</a:t>
            </a:r>
            <a:endParaRPr lang="en-GB" sz="4400" dirty="0"/>
          </a:p>
        </p:txBody>
      </p:sp>
      <p:sp>
        <p:nvSpPr>
          <p:cNvPr id="9" name="Dot 9"/>
          <p:cNvSpPr/>
          <p:nvPr/>
        </p:nvSpPr>
        <p:spPr>
          <a:xfrm>
            <a:off x="7034479" y="1828800"/>
            <a:ext cx="164592" cy="164592"/>
          </a:xfrm>
          <a:prstGeom prst="ellipse">
            <a:avLst/>
          </a:prstGeom>
          <a:solidFill>
            <a:srgbClr val="F15BB5"/>
          </a:solidFill>
          <a:ln w="12700" cap="rnd">
            <a:solidFill>
              <a:srgbClr val="F15BB5"/>
            </a:solidFill>
            <a:prstDash val="solid"/>
            <a:round/>
          </a:ln>
        </p:spPr>
      </p:sp>
      <p:sp>
        <p:nvSpPr>
          <p:cNvPr id="10" name="Text 10"/>
          <p:cNvSpPr txBox="1"/>
          <p:nvPr/>
        </p:nvSpPr>
        <p:spPr>
          <a:xfrm>
            <a:off x="8259775" y="1481328"/>
            <a:ext cx="82296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dirty="0">
                <a:solidFill>
                  <a:srgbClr val="6B6D85"/>
                </a:solidFill>
                <a:latin typeface="Calibri"/>
                <a:ea typeface="Calibri"/>
                <a:cs typeface="Calibri"/>
              </a:rPr>
              <a:t>house</a:t>
            </a:r>
            <a:endParaRPr lang="en-GB" sz="1400" dirty="0"/>
          </a:p>
        </p:txBody>
      </p:sp>
      <p:sp>
        <p:nvSpPr>
          <p:cNvPr id="11" name="Picture 11"/>
          <p:cNvSpPr/>
          <p:nvPr/>
        </p:nvSpPr>
        <p:spPr>
          <a:xfrm>
            <a:off x="1737360" y="2427732"/>
            <a:ext cx="859536" cy="859536"/>
          </a:xfrm>
          <a:prstGeom prst="ellipse">
            <a:avLst/>
          </a:prstGeom>
          <a:solidFill>
            <a:srgbClr val="FEEFF8"/>
          </a:solidFill>
          <a:ln w="31750" cap="rnd">
            <a:solidFill>
              <a:srgbClr val="F15BB5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b="0" dirty="0">
                <a:solidFill>
                  <a:srgbClr val="2B2D42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🐝</a:t>
            </a:r>
            <a:endParaRPr lang="en-GB" sz="4400" dirty="0"/>
          </a:p>
        </p:txBody>
      </p:sp>
      <p:sp>
        <p:nvSpPr>
          <p:cNvPr id="12" name="Dot 12"/>
          <p:cNvSpPr/>
          <p:nvPr/>
        </p:nvSpPr>
        <p:spPr>
          <a:xfrm>
            <a:off x="2706624" y="2775204"/>
            <a:ext cx="164592" cy="164592"/>
          </a:xfrm>
          <a:prstGeom prst="ellipse">
            <a:avLst/>
          </a:prstGeom>
          <a:solidFill>
            <a:srgbClr val="F15BB5"/>
          </a:solidFill>
          <a:ln w="12700" cap="rnd">
            <a:solidFill>
              <a:srgbClr val="F15BB5"/>
            </a:solidFill>
            <a:prstDash val="solid"/>
            <a:round/>
          </a:ln>
        </p:spPr>
      </p:sp>
      <p:sp>
        <p:nvSpPr>
          <p:cNvPr id="13" name="Text 13"/>
          <p:cNvSpPr txBox="1"/>
          <p:nvPr/>
        </p:nvSpPr>
        <p:spPr>
          <a:xfrm>
            <a:off x="822960" y="2427732"/>
            <a:ext cx="82296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dirty="0">
                <a:solidFill>
                  <a:srgbClr val="6B6D85"/>
                </a:solidFill>
                <a:latin typeface="Calibri"/>
                <a:ea typeface="Calibri"/>
                <a:cs typeface="Calibri"/>
              </a:rPr>
              <a:t>bee</a:t>
            </a:r>
            <a:endParaRPr lang="en-GB" sz="1400" dirty="0"/>
          </a:p>
        </p:txBody>
      </p:sp>
      <p:sp>
        <p:nvSpPr>
          <p:cNvPr id="14" name="Picture 14"/>
          <p:cNvSpPr/>
          <p:nvPr/>
        </p:nvSpPr>
        <p:spPr>
          <a:xfrm>
            <a:off x="7308799" y="2427732"/>
            <a:ext cx="859536" cy="859536"/>
          </a:xfrm>
          <a:prstGeom prst="ellipse">
            <a:avLst/>
          </a:prstGeom>
          <a:solidFill>
            <a:srgbClr val="FEEFF8"/>
          </a:solidFill>
          <a:ln w="31750" cap="rnd">
            <a:solidFill>
              <a:srgbClr val="F15BB5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b="0" dirty="0">
                <a:solidFill>
                  <a:srgbClr val="2B2D42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🎩</a:t>
            </a:r>
            <a:endParaRPr lang="en-GB" sz="4400" dirty="0"/>
          </a:p>
        </p:txBody>
      </p:sp>
      <p:sp>
        <p:nvSpPr>
          <p:cNvPr id="15" name="Dot 15"/>
          <p:cNvSpPr/>
          <p:nvPr/>
        </p:nvSpPr>
        <p:spPr>
          <a:xfrm>
            <a:off x="7034479" y="2775204"/>
            <a:ext cx="164592" cy="164592"/>
          </a:xfrm>
          <a:prstGeom prst="ellipse">
            <a:avLst/>
          </a:prstGeom>
          <a:solidFill>
            <a:srgbClr val="F15BB5"/>
          </a:solidFill>
          <a:ln w="12700" cap="rnd">
            <a:solidFill>
              <a:srgbClr val="F15BB5"/>
            </a:solidFill>
            <a:prstDash val="solid"/>
            <a:round/>
          </a:ln>
        </p:spPr>
      </p:sp>
      <p:sp>
        <p:nvSpPr>
          <p:cNvPr id="16" name="Text 16"/>
          <p:cNvSpPr txBox="1"/>
          <p:nvPr/>
        </p:nvSpPr>
        <p:spPr>
          <a:xfrm>
            <a:off x="8259775" y="2427732"/>
            <a:ext cx="82296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dirty="0">
                <a:solidFill>
                  <a:srgbClr val="6B6D85"/>
                </a:solidFill>
                <a:latin typeface="Calibri"/>
                <a:ea typeface="Calibri"/>
                <a:cs typeface="Calibri"/>
              </a:rPr>
              <a:t>hat</a:t>
            </a:r>
            <a:endParaRPr lang="en-GB" sz="1400" dirty="0"/>
          </a:p>
        </p:txBody>
      </p:sp>
      <p:sp>
        <p:nvSpPr>
          <p:cNvPr id="17" name="Picture 17"/>
          <p:cNvSpPr/>
          <p:nvPr/>
        </p:nvSpPr>
        <p:spPr>
          <a:xfrm>
            <a:off x="1737360" y="3374136"/>
            <a:ext cx="859536" cy="859536"/>
          </a:xfrm>
          <a:prstGeom prst="ellipse">
            <a:avLst/>
          </a:prstGeom>
          <a:solidFill>
            <a:srgbClr val="FEEFF8"/>
          </a:solidFill>
          <a:ln w="31750" cap="rnd">
            <a:solidFill>
              <a:srgbClr val="F15BB5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b="0" dirty="0">
                <a:solidFill>
                  <a:srgbClr val="2B2D42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🚗</a:t>
            </a:r>
            <a:endParaRPr lang="en-GB" sz="4400" dirty="0"/>
          </a:p>
        </p:txBody>
      </p:sp>
      <p:sp>
        <p:nvSpPr>
          <p:cNvPr id="18" name="Dot 18"/>
          <p:cNvSpPr/>
          <p:nvPr/>
        </p:nvSpPr>
        <p:spPr>
          <a:xfrm>
            <a:off x="2706624" y="3721608"/>
            <a:ext cx="164592" cy="164592"/>
          </a:xfrm>
          <a:prstGeom prst="ellipse">
            <a:avLst/>
          </a:prstGeom>
          <a:solidFill>
            <a:srgbClr val="F15BB5"/>
          </a:solidFill>
          <a:ln w="12700" cap="rnd">
            <a:solidFill>
              <a:srgbClr val="F15BB5"/>
            </a:solidFill>
            <a:prstDash val="solid"/>
            <a:round/>
          </a:ln>
        </p:spPr>
      </p:sp>
      <p:sp>
        <p:nvSpPr>
          <p:cNvPr id="19" name="Text 19"/>
          <p:cNvSpPr txBox="1"/>
          <p:nvPr/>
        </p:nvSpPr>
        <p:spPr>
          <a:xfrm>
            <a:off x="822960" y="3374136"/>
            <a:ext cx="82296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dirty="0">
                <a:solidFill>
                  <a:srgbClr val="6B6D85"/>
                </a:solidFill>
                <a:latin typeface="Calibri"/>
                <a:ea typeface="Calibri"/>
                <a:cs typeface="Calibri"/>
              </a:rPr>
              <a:t>car</a:t>
            </a:r>
            <a:endParaRPr lang="en-GB" sz="1400" dirty="0"/>
          </a:p>
        </p:txBody>
      </p:sp>
      <p:sp>
        <p:nvSpPr>
          <p:cNvPr id="20" name="Picture 20"/>
          <p:cNvSpPr/>
          <p:nvPr/>
        </p:nvSpPr>
        <p:spPr>
          <a:xfrm>
            <a:off x="7308799" y="3374136"/>
            <a:ext cx="859536" cy="859536"/>
          </a:xfrm>
          <a:prstGeom prst="ellipse">
            <a:avLst/>
          </a:prstGeom>
          <a:solidFill>
            <a:srgbClr val="FEEFF8"/>
          </a:solidFill>
          <a:ln w="31750" cap="rnd">
            <a:solidFill>
              <a:srgbClr val="F15BB5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b="0" dirty="0">
                <a:solidFill>
                  <a:srgbClr val="2B2D42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⛵</a:t>
            </a:r>
            <a:endParaRPr lang="en-GB" sz="4400" dirty="0"/>
          </a:p>
        </p:txBody>
      </p:sp>
      <p:sp>
        <p:nvSpPr>
          <p:cNvPr id="21" name="Dot 21"/>
          <p:cNvSpPr/>
          <p:nvPr/>
        </p:nvSpPr>
        <p:spPr>
          <a:xfrm>
            <a:off x="7034479" y="3721608"/>
            <a:ext cx="164592" cy="164592"/>
          </a:xfrm>
          <a:prstGeom prst="ellipse">
            <a:avLst/>
          </a:prstGeom>
          <a:solidFill>
            <a:srgbClr val="F15BB5"/>
          </a:solidFill>
          <a:ln w="12700" cap="rnd">
            <a:solidFill>
              <a:srgbClr val="F15BB5"/>
            </a:solidFill>
            <a:prstDash val="solid"/>
            <a:round/>
          </a:ln>
        </p:spPr>
      </p:sp>
      <p:sp>
        <p:nvSpPr>
          <p:cNvPr id="22" name="Text 22"/>
          <p:cNvSpPr txBox="1"/>
          <p:nvPr/>
        </p:nvSpPr>
        <p:spPr>
          <a:xfrm>
            <a:off x="8259775" y="3374136"/>
            <a:ext cx="82296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dirty="0">
                <a:solidFill>
                  <a:srgbClr val="6B6D85"/>
                </a:solidFill>
                <a:latin typeface="Calibri"/>
                <a:ea typeface="Calibri"/>
                <a:cs typeface="Calibri"/>
              </a:rPr>
              <a:t>boat</a:t>
            </a:r>
            <a:endParaRPr lang="en-GB" sz="1400" dirty="0"/>
          </a:p>
        </p:txBody>
      </p:sp>
      <p:sp>
        <p:nvSpPr>
          <p:cNvPr id="23" name="Picture 23"/>
          <p:cNvSpPr/>
          <p:nvPr/>
        </p:nvSpPr>
        <p:spPr>
          <a:xfrm>
            <a:off x="1737360" y="4320540"/>
            <a:ext cx="859536" cy="859536"/>
          </a:xfrm>
          <a:prstGeom prst="ellipse">
            <a:avLst/>
          </a:prstGeom>
          <a:solidFill>
            <a:srgbClr val="FEEFF8"/>
          </a:solidFill>
          <a:ln w="31750" cap="rnd">
            <a:solidFill>
              <a:srgbClr val="F15BB5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b="0" dirty="0">
                <a:solidFill>
                  <a:srgbClr val="2B2D42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🐭</a:t>
            </a:r>
            <a:endParaRPr lang="en-GB" sz="4400" dirty="0"/>
          </a:p>
        </p:txBody>
      </p:sp>
      <p:sp>
        <p:nvSpPr>
          <p:cNvPr id="24" name="Dot 24"/>
          <p:cNvSpPr/>
          <p:nvPr/>
        </p:nvSpPr>
        <p:spPr>
          <a:xfrm>
            <a:off x="2706624" y="4668012"/>
            <a:ext cx="164592" cy="164592"/>
          </a:xfrm>
          <a:prstGeom prst="ellipse">
            <a:avLst/>
          </a:prstGeom>
          <a:solidFill>
            <a:srgbClr val="F15BB5"/>
          </a:solidFill>
          <a:ln w="12700" cap="rnd">
            <a:solidFill>
              <a:srgbClr val="F15BB5"/>
            </a:solidFill>
            <a:prstDash val="solid"/>
            <a:round/>
          </a:ln>
        </p:spPr>
      </p:sp>
      <p:sp>
        <p:nvSpPr>
          <p:cNvPr id="25" name="Text 25"/>
          <p:cNvSpPr txBox="1"/>
          <p:nvPr/>
        </p:nvSpPr>
        <p:spPr>
          <a:xfrm>
            <a:off x="822960" y="4320540"/>
            <a:ext cx="82296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dirty="0">
                <a:solidFill>
                  <a:srgbClr val="6B6D85"/>
                </a:solidFill>
                <a:latin typeface="Calibri"/>
                <a:ea typeface="Calibri"/>
                <a:cs typeface="Calibri"/>
              </a:rPr>
              <a:t>mouse</a:t>
            </a:r>
            <a:endParaRPr lang="en-GB" sz="1400" dirty="0"/>
          </a:p>
        </p:txBody>
      </p:sp>
      <p:sp>
        <p:nvSpPr>
          <p:cNvPr id="26" name="Picture 26"/>
          <p:cNvSpPr/>
          <p:nvPr/>
        </p:nvSpPr>
        <p:spPr>
          <a:xfrm>
            <a:off x="7308799" y="4320540"/>
            <a:ext cx="859536" cy="859536"/>
          </a:xfrm>
          <a:prstGeom prst="ellipse">
            <a:avLst/>
          </a:prstGeom>
          <a:solidFill>
            <a:srgbClr val="FEEFF8"/>
          </a:solidFill>
          <a:ln w="31750" cap="rnd">
            <a:solidFill>
              <a:srgbClr val="F15BB5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b="0" dirty="0">
                <a:solidFill>
                  <a:srgbClr val="2B2D42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⭐</a:t>
            </a:r>
            <a:endParaRPr lang="en-GB" sz="4400" dirty="0"/>
          </a:p>
        </p:txBody>
      </p:sp>
      <p:sp>
        <p:nvSpPr>
          <p:cNvPr id="27" name="Dot 27"/>
          <p:cNvSpPr/>
          <p:nvPr/>
        </p:nvSpPr>
        <p:spPr>
          <a:xfrm>
            <a:off x="7034479" y="4668012"/>
            <a:ext cx="164592" cy="164592"/>
          </a:xfrm>
          <a:prstGeom prst="ellipse">
            <a:avLst/>
          </a:prstGeom>
          <a:solidFill>
            <a:srgbClr val="F15BB5"/>
          </a:solidFill>
          <a:ln w="12700" cap="rnd">
            <a:solidFill>
              <a:srgbClr val="F15BB5"/>
            </a:solidFill>
            <a:prstDash val="solid"/>
            <a:round/>
          </a:ln>
        </p:spPr>
      </p:sp>
      <p:sp>
        <p:nvSpPr>
          <p:cNvPr id="28" name="Text 28"/>
          <p:cNvSpPr txBox="1"/>
          <p:nvPr/>
        </p:nvSpPr>
        <p:spPr>
          <a:xfrm>
            <a:off x="8259775" y="4320540"/>
            <a:ext cx="82296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dirty="0">
                <a:solidFill>
                  <a:srgbClr val="6B6D85"/>
                </a:solidFill>
                <a:latin typeface="Calibri"/>
                <a:ea typeface="Calibri"/>
                <a:cs typeface="Calibri"/>
              </a:rPr>
              <a:t>star</a:t>
            </a:r>
            <a:endParaRPr lang="en-GB" sz="1400" dirty="0"/>
          </a:p>
        </p:txBody>
      </p:sp>
      <p:sp>
        <p:nvSpPr>
          <p:cNvPr id="29" name="Picture 29"/>
          <p:cNvSpPr/>
          <p:nvPr/>
        </p:nvSpPr>
        <p:spPr>
          <a:xfrm>
            <a:off x="1737360" y="5266944"/>
            <a:ext cx="859536" cy="859536"/>
          </a:xfrm>
          <a:prstGeom prst="ellipse">
            <a:avLst/>
          </a:prstGeom>
          <a:solidFill>
            <a:srgbClr val="FEEFF8"/>
          </a:solidFill>
          <a:ln w="31750" cap="rnd">
            <a:solidFill>
              <a:srgbClr val="F15BB5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b="0" dirty="0">
                <a:solidFill>
                  <a:srgbClr val="2B2D42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🐐</a:t>
            </a:r>
            <a:endParaRPr lang="en-GB" sz="4400" dirty="0"/>
          </a:p>
        </p:txBody>
      </p:sp>
      <p:sp>
        <p:nvSpPr>
          <p:cNvPr id="30" name="Dot 30"/>
          <p:cNvSpPr/>
          <p:nvPr/>
        </p:nvSpPr>
        <p:spPr>
          <a:xfrm>
            <a:off x="2706624" y="5614416"/>
            <a:ext cx="164592" cy="164592"/>
          </a:xfrm>
          <a:prstGeom prst="ellipse">
            <a:avLst/>
          </a:prstGeom>
          <a:solidFill>
            <a:srgbClr val="F15BB5"/>
          </a:solidFill>
          <a:ln w="12700" cap="rnd">
            <a:solidFill>
              <a:srgbClr val="F15BB5"/>
            </a:solidFill>
            <a:prstDash val="solid"/>
            <a:round/>
          </a:ln>
        </p:spPr>
      </p:sp>
      <p:sp>
        <p:nvSpPr>
          <p:cNvPr id="31" name="Text 31"/>
          <p:cNvSpPr txBox="1"/>
          <p:nvPr/>
        </p:nvSpPr>
        <p:spPr>
          <a:xfrm>
            <a:off x="822960" y="5266944"/>
            <a:ext cx="82296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dirty="0">
                <a:solidFill>
                  <a:srgbClr val="6B6D85"/>
                </a:solidFill>
                <a:latin typeface="Calibri"/>
                <a:ea typeface="Calibri"/>
                <a:cs typeface="Calibri"/>
              </a:rPr>
              <a:t>goat</a:t>
            </a:r>
            <a:endParaRPr lang="en-GB" sz="1400" dirty="0"/>
          </a:p>
        </p:txBody>
      </p:sp>
      <p:sp>
        <p:nvSpPr>
          <p:cNvPr id="32" name="Picture 32"/>
          <p:cNvSpPr/>
          <p:nvPr/>
        </p:nvSpPr>
        <p:spPr>
          <a:xfrm>
            <a:off x="7308799" y="5266944"/>
            <a:ext cx="859536" cy="859536"/>
          </a:xfrm>
          <a:prstGeom prst="ellipse">
            <a:avLst/>
          </a:prstGeom>
          <a:solidFill>
            <a:srgbClr val="FEEFF8"/>
          </a:solidFill>
          <a:ln w="31750" cap="rnd">
            <a:solidFill>
              <a:srgbClr val="F15BB5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b="0" dirty="0">
                <a:solidFill>
                  <a:srgbClr val="2B2D42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🌳</a:t>
            </a:r>
            <a:endParaRPr lang="en-GB" sz="4400" dirty="0"/>
          </a:p>
        </p:txBody>
      </p:sp>
      <p:sp>
        <p:nvSpPr>
          <p:cNvPr id="33" name="Dot 33"/>
          <p:cNvSpPr/>
          <p:nvPr/>
        </p:nvSpPr>
        <p:spPr>
          <a:xfrm>
            <a:off x="7034479" y="5614416"/>
            <a:ext cx="164592" cy="164592"/>
          </a:xfrm>
          <a:prstGeom prst="ellipse">
            <a:avLst/>
          </a:prstGeom>
          <a:solidFill>
            <a:srgbClr val="F15BB5"/>
          </a:solidFill>
          <a:ln w="12700" cap="rnd">
            <a:solidFill>
              <a:srgbClr val="F15BB5"/>
            </a:solidFill>
            <a:prstDash val="solid"/>
            <a:round/>
          </a:ln>
        </p:spPr>
      </p:sp>
      <p:sp>
        <p:nvSpPr>
          <p:cNvPr id="34" name="Text 34"/>
          <p:cNvSpPr txBox="1"/>
          <p:nvPr/>
        </p:nvSpPr>
        <p:spPr>
          <a:xfrm>
            <a:off x="8259775" y="5266944"/>
            <a:ext cx="82296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dirty="0">
                <a:solidFill>
                  <a:srgbClr val="6B6D85"/>
                </a:solidFill>
                <a:latin typeface="Calibri"/>
                <a:ea typeface="Calibri"/>
                <a:cs typeface="Calibri"/>
              </a:rPr>
              <a:t>tree</a:t>
            </a:r>
            <a:endParaRPr lang="en-GB" sz="1400" dirty="0"/>
          </a:p>
        </p:txBody>
      </p:sp>
      <p:sp>
        <p:nvSpPr>
          <p:cNvPr id="35" name="Text 35"/>
          <p:cNvSpPr txBox="1"/>
          <p:nvPr/>
        </p:nvSpPr>
        <p:spPr>
          <a:xfrm>
            <a:off x="457200" y="6144768"/>
            <a:ext cx="898855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6B6D85"/>
                </a:solidFill>
                <a:latin typeface="Calibri"/>
                <a:ea typeface="Calibri"/>
                <a:cs typeface="Calibri"/>
              </a:rPr>
              <a:t>Grown-ups:</a:t>
            </a:r>
            <a:r>
              <a:rPr lang="en-GB" sz="1200" b="0" dirty="0">
                <a:solidFill>
                  <a:srgbClr val="6B6D85"/>
                </a:solidFill>
                <a:latin typeface="Calibri"/>
                <a:ea typeface="Calibri"/>
                <a:cs typeface="Calibri"/>
              </a:rPr>
              <a:t> say both words slowly: cat… hat. Do they sound the same at the end?</a:t>
            </a:r>
            <a:endParaRPr lang="en-GB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ame icon 2"/>
          <p:cNvSpPr/>
          <p:nvPr/>
        </p:nvSpPr>
        <p:spPr>
          <a:xfrm>
            <a:off x="457200" y="365760"/>
            <a:ext cx="914400" cy="914400"/>
          </a:xfrm>
          <a:prstGeom prst="ellipse">
            <a:avLst/>
          </a:prstGeom>
          <a:solidFill>
            <a:srgbClr val="E5F3F2"/>
          </a:solidFill>
          <a:ln w="38100" cap="rnd">
            <a:solidFill>
              <a:srgbClr val="2A9D8F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0" dirty="0">
                <a:solidFill>
                  <a:srgbClr val="2B2D42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🧱</a:t>
            </a:r>
            <a:endParaRPr lang="en-GB" sz="3200" dirty="0"/>
          </a:p>
        </p:txBody>
      </p:sp>
      <p:sp>
        <p:nvSpPr>
          <p:cNvPr id="3" name="Text 3"/>
          <p:cNvSpPr txBox="1"/>
          <p:nvPr/>
        </p:nvSpPr>
        <p:spPr>
          <a:xfrm>
            <a:off x="1572768" y="329184"/>
            <a:ext cx="7863840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2A9D8F"/>
                </a:solidFill>
                <a:latin typeface="Comic Sans MS"/>
                <a:ea typeface="Comic Sans MS"/>
                <a:cs typeface="Comic Sans MS"/>
              </a:rPr>
              <a:t>Build a word</a:t>
            </a:r>
            <a:endParaRPr lang="en-GB" sz="3600" dirty="0"/>
          </a:p>
        </p:txBody>
      </p:sp>
      <p:sp>
        <p:nvSpPr>
          <p:cNvPr id="4" name="Text 4"/>
          <p:cNvSpPr txBox="1"/>
          <p:nvPr/>
        </p:nvSpPr>
        <p:spPr>
          <a:xfrm>
            <a:off x="1572768" y="1005840"/>
            <a:ext cx="78638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0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Cut out the letters and put them in the boxes to build each word.</a:t>
            </a:r>
            <a:endParaRPr lang="en-GB" sz="1900" dirty="0"/>
          </a:p>
        </p:txBody>
      </p:sp>
      <p:sp>
        <p:nvSpPr>
          <p:cNvPr id="5" name="Picture 5"/>
          <p:cNvSpPr/>
          <p:nvPr/>
        </p:nvSpPr>
        <p:spPr>
          <a:xfrm>
            <a:off x="2743200" y="1554480"/>
            <a:ext cx="914400" cy="914400"/>
          </a:xfrm>
          <a:prstGeom prst="ellipse">
            <a:avLst/>
          </a:prstGeom>
          <a:solidFill>
            <a:srgbClr val="E5F3F2"/>
          </a:solidFill>
          <a:ln w="31750" cap="rnd">
            <a:solidFill>
              <a:srgbClr val="2A9D8F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b="0" dirty="0">
                <a:solidFill>
                  <a:srgbClr val="2B2D42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🐱</a:t>
            </a:r>
            <a:endParaRPr lang="en-GB" sz="4000" dirty="0"/>
          </a:p>
        </p:txBody>
      </p:sp>
      <p:sp>
        <p:nvSpPr>
          <p:cNvPr id="6" name="Letter box 6"/>
          <p:cNvSpPr/>
          <p:nvPr/>
        </p:nvSpPr>
        <p:spPr>
          <a:xfrm>
            <a:off x="4023360" y="1554480"/>
            <a:ext cx="914400" cy="914400"/>
          </a:xfrm>
          <a:prstGeom prst="rect">
            <a:avLst/>
          </a:prstGeom>
          <a:noFill/>
          <a:ln w="38100" cap="rnd">
            <a:solidFill>
              <a:srgbClr val="2A9D8F"/>
            </a:solidFill>
            <a:prstDash val="solid"/>
            <a:round/>
          </a:ln>
        </p:spPr>
      </p:sp>
      <p:sp>
        <p:nvSpPr>
          <p:cNvPr id="7" name="Letter box 7"/>
          <p:cNvSpPr/>
          <p:nvPr/>
        </p:nvSpPr>
        <p:spPr>
          <a:xfrm>
            <a:off x="5120640" y="1554480"/>
            <a:ext cx="914400" cy="914400"/>
          </a:xfrm>
          <a:prstGeom prst="rect">
            <a:avLst/>
          </a:prstGeom>
          <a:noFill/>
          <a:ln w="38100" cap="rnd">
            <a:solidFill>
              <a:srgbClr val="2A9D8F"/>
            </a:solidFill>
            <a:prstDash val="solid"/>
            <a:round/>
          </a:ln>
        </p:spPr>
      </p:sp>
      <p:sp>
        <p:nvSpPr>
          <p:cNvPr id="8" name="Letter box 8"/>
          <p:cNvSpPr/>
          <p:nvPr/>
        </p:nvSpPr>
        <p:spPr>
          <a:xfrm>
            <a:off x="6217920" y="1554480"/>
            <a:ext cx="914400" cy="914400"/>
          </a:xfrm>
          <a:prstGeom prst="rect">
            <a:avLst/>
          </a:prstGeom>
          <a:noFill/>
          <a:ln w="38100" cap="rnd">
            <a:solidFill>
              <a:srgbClr val="2A9D8F"/>
            </a:solidFill>
            <a:prstDash val="solid"/>
            <a:round/>
          </a:ln>
        </p:spPr>
      </p:sp>
      <p:sp>
        <p:nvSpPr>
          <p:cNvPr id="9" name="Picture 9"/>
          <p:cNvSpPr/>
          <p:nvPr/>
        </p:nvSpPr>
        <p:spPr>
          <a:xfrm>
            <a:off x="2743200" y="2606040"/>
            <a:ext cx="914400" cy="914400"/>
          </a:xfrm>
          <a:prstGeom prst="ellipse">
            <a:avLst/>
          </a:prstGeom>
          <a:solidFill>
            <a:srgbClr val="E5F3F2"/>
          </a:solidFill>
          <a:ln w="31750" cap="rnd">
            <a:solidFill>
              <a:srgbClr val="2A9D8F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b="0" dirty="0">
                <a:solidFill>
                  <a:srgbClr val="2B2D42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🌞</a:t>
            </a:r>
            <a:endParaRPr lang="en-GB" sz="4000" dirty="0"/>
          </a:p>
        </p:txBody>
      </p:sp>
      <p:sp>
        <p:nvSpPr>
          <p:cNvPr id="10" name="Letter box 10"/>
          <p:cNvSpPr/>
          <p:nvPr/>
        </p:nvSpPr>
        <p:spPr>
          <a:xfrm>
            <a:off x="4023360" y="2606040"/>
            <a:ext cx="914400" cy="914400"/>
          </a:xfrm>
          <a:prstGeom prst="rect">
            <a:avLst/>
          </a:prstGeom>
          <a:noFill/>
          <a:ln w="38100" cap="rnd">
            <a:solidFill>
              <a:srgbClr val="2A9D8F"/>
            </a:solidFill>
            <a:prstDash val="solid"/>
            <a:round/>
          </a:ln>
        </p:spPr>
      </p:sp>
      <p:sp>
        <p:nvSpPr>
          <p:cNvPr id="11" name="Letter box 11"/>
          <p:cNvSpPr/>
          <p:nvPr/>
        </p:nvSpPr>
        <p:spPr>
          <a:xfrm>
            <a:off x="5120640" y="2606040"/>
            <a:ext cx="914400" cy="914400"/>
          </a:xfrm>
          <a:prstGeom prst="rect">
            <a:avLst/>
          </a:prstGeom>
          <a:noFill/>
          <a:ln w="38100" cap="rnd">
            <a:solidFill>
              <a:srgbClr val="2A9D8F"/>
            </a:solidFill>
            <a:prstDash val="solid"/>
            <a:round/>
          </a:ln>
        </p:spPr>
      </p:sp>
      <p:sp>
        <p:nvSpPr>
          <p:cNvPr id="12" name="Letter box 12"/>
          <p:cNvSpPr/>
          <p:nvPr/>
        </p:nvSpPr>
        <p:spPr>
          <a:xfrm>
            <a:off x="6217920" y="2606040"/>
            <a:ext cx="914400" cy="914400"/>
          </a:xfrm>
          <a:prstGeom prst="rect">
            <a:avLst/>
          </a:prstGeom>
          <a:noFill/>
          <a:ln w="38100" cap="rnd">
            <a:solidFill>
              <a:srgbClr val="2A9D8F"/>
            </a:solidFill>
            <a:prstDash val="solid"/>
            <a:round/>
          </a:ln>
        </p:spPr>
      </p:sp>
      <p:sp>
        <p:nvSpPr>
          <p:cNvPr id="13" name="Picture 13"/>
          <p:cNvSpPr/>
          <p:nvPr/>
        </p:nvSpPr>
        <p:spPr>
          <a:xfrm>
            <a:off x="2743200" y="3657600"/>
            <a:ext cx="914400" cy="914400"/>
          </a:xfrm>
          <a:prstGeom prst="ellipse">
            <a:avLst/>
          </a:prstGeom>
          <a:solidFill>
            <a:srgbClr val="E5F3F2"/>
          </a:solidFill>
          <a:ln w="31750" cap="rnd">
            <a:solidFill>
              <a:srgbClr val="2A9D8F"/>
            </a:solidFill>
            <a:prstDash val="solid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b="0" dirty="0">
                <a:solidFill>
                  <a:srgbClr val="2B2D42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🐷</a:t>
            </a:r>
            <a:endParaRPr lang="en-GB" sz="4000" dirty="0"/>
          </a:p>
        </p:txBody>
      </p:sp>
      <p:sp>
        <p:nvSpPr>
          <p:cNvPr id="14" name="Letter box 14"/>
          <p:cNvSpPr/>
          <p:nvPr/>
        </p:nvSpPr>
        <p:spPr>
          <a:xfrm>
            <a:off x="4023360" y="3657600"/>
            <a:ext cx="914400" cy="914400"/>
          </a:xfrm>
          <a:prstGeom prst="rect">
            <a:avLst/>
          </a:prstGeom>
          <a:noFill/>
          <a:ln w="38100" cap="rnd">
            <a:solidFill>
              <a:srgbClr val="2A9D8F"/>
            </a:solidFill>
            <a:prstDash val="solid"/>
            <a:round/>
          </a:ln>
        </p:spPr>
      </p:sp>
      <p:sp>
        <p:nvSpPr>
          <p:cNvPr id="15" name="Letter box 15"/>
          <p:cNvSpPr/>
          <p:nvPr/>
        </p:nvSpPr>
        <p:spPr>
          <a:xfrm>
            <a:off x="5120640" y="3657600"/>
            <a:ext cx="914400" cy="914400"/>
          </a:xfrm>
          <a:prstGeom prst="rect">
            <a:avLst/>
          </a:prstGeom>
          <a:noFill/>
          <a:ln w="38100" cap="rnd">
            <a:solidFill>
              <a:srgbClr val="2A9D8F"/>
            </a:solidFill>
            <a:prstDash val="solid"/>
            <a:round/>
          </a:ln>
        </p:spPr>
      </p:sp>
      <p:sp>
        <p:nvSpPr>
          <p:cNvPr id="16" name="Letter box 16"/>
          <p:cNvSpPr/>
          <p:nvPr/>
        </p:nvSpPr>
        <p:spPr>
          <a:xfrm>
            <a:off x="6217920" y="3657600"/>
            <a:ext cx="914400" cy="914400"/>
          </a:xfrm>
          <a:prstGeom prst="rect">
            <a:avLst/>
          </a:prstGeom>
          <a:noFill/>
          <a:ln w="38100" cap="rnd">
            <a:solidFill>
              <a:srgbClr val="2A9D8F"/>
            </a:solidFill>
            <a:prstDash val="solid"/>
            <a:round/>
          </a:ln>
        </p:spPr>
      </p:sp>
      <p:sp>
        <p:nvSpPr>
          <p:cNvPr id="17" name="Text 17"/>
          <p:cNvSpPr txBox="1"/>
          <p:nvPr/>
        </p:nvSpPr>
        <p:spPr>
          <a:xfrm>
            <a:off x="737464" y="46634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dirty="0">
                <a:solidFill>
                  <a:srgbClr val="2B2D42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✂</a:t>
            </a:r>
            <a:r>
              <a:rPr lang="en-GB" sz="1300" b="0" dirty="0">
                <a:solidFill>
                  <a:srgbClr val="6B6D85"/>
                </a:solidFill>
                <a:latin typeface="Comic Sans MS"/>
                <a:ea typeface="Comic Sans MS"/>
                <a:cs typeface="Comic Sans MS"/>
              </a:rPr>
              <a:t>  Cut along the dashed lines</a:t>
            </a:r>
            <a:endParaRPr lang="en-GB" sz="1300" dirty="0"/>
          </a:p>
        </p:txBody>
      </p:sp>
      <p:sp>
        <p:nvSpPr>
          <p:cNvPr id="18" name="Letter tile 18"/>
          <p:cNvSpPr/>
          <p:nvPr/>
        </p:nvSpPr>
        <p:spPr>
          <a:xfrm>
            <a:off x="737464" y="5102352"/>
            <a:ext cx="822960" cy="822960"/>
          </a:xfrm>
          <a:prstGeom prst="rect">
            <a:avLst/>
          </a:prstGeom>
          <a:noFill/>
          <a:ln w="19050" cap="rnd">
            <a:solidFill>
              <a:srgbClr val="6B6D85"/>
            </a:solidFill>
            <a:prstDash val="dash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u</a:t>
            </a:r>
            <a:endParaRPr lang="en-GB" sz="4400" dirty="0"/>
          </a:p>
        </p:txBody>
      </p:sp>
      <p:sp>
        <p:nvSpPr>
          <p:cNvPr id="19" name="Letter tile 19"/>
          <p:cNvSpPr/>
          <p:nvPr/>
        </p:nvSpPr>
        <p:spPr>
          <a:xfrm>
            <a:off x="1688440" y="5102352"/>
            <a:ext cx="822960" cy="822960"/>
          </a:xfrm>
          <a:prstGeom prst="rect">
            <a:avLst/>
          </a:prstGeom>
          <a:noFill/>
          <a:ln w="19050" cap="rnd">
            <a:solidFill>
              <a:srgbClr val="6B6D85"/>
            </a:solidFill>
            <a:prstDash val="dash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c</a:t>
            </a:r>
            <a:endParaRPr lang="en-GB" sz="4400" dirty="0"/>
          </a:p>
        </p:txBody>
      </p:sp>
      <p:sp>
        <p:nvSpPr>
          <p:cNvPr id="20" name="Letter tile 20"/>
          <p:cNvSpPr/>
          <p:nvPr/>
        </p:nvSpPr>
        <p:spPr>
          <a:xfrm>
            <a:off x="2639416" y="5102352"/>
            <a:ext cx="822960" cy="822960"/>
          </a:xfrm>
          <a:prstGeom prst="rect">
            <a:avLst/>
          </a:prstGeom>
          <a:noFill/>
          <a:ln w="19050" cap="rnd">
            <a:solidFill>
              <a:srgbClr val="6B6D85"/>
            </a:solidFill>
            <a:prstDash val="dash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i</a:t>
            </a:r>
            <a:endParaRPr lang="en-GB" sz="4400" dirty="0"/>
          </a:p>
        </p:txBody>
      </p:sp>
      <p:sp>
        <p:nvSpPr>
          <p:cNvPr id="21" name="Letter tile 21"/>
          <p:cNvSpPr/>
          <p:nvPr/>
        </p:nvSpPr>
        <p:spPr>
          <a:xfrm>
            <a:off x="3590392" y="5102352"/>
            <a:ext cx="822960" cy="822960"/>
          </a:xfrm>
          <a:prstGeom prst="rect">
            <a:avLst/>
          </a:prstGeom>
          <a:noFill/>
          <a:ln w="19050" cap="rnd">
            <a:solidFill>
              <a:srgbClr val="6B6D85"/>
            </a:solidFill>
            <a:prstDash val="dash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t</a:t>
            </a:r>
            <a:endParaRPr lang="en-GB" sz="4400" dirty="0"/>
          </a:p>
        </p:txBody>
      </p:sp>
      <p:sp>
        <p:nvSpPr>
          <p:cNvPr id="22" name="Letter tile 22"/>
          <p:cNvSpPr/>
          <p:nvPr/>
        </p:nvSpPr>
        <p:spPr>
          <a:xfrm>
            <a:off x="4541368" y="5102352"/>
            <a:ext cx="822960" cy="822960"/>
          </a:xfrm>
          <a:prstGeom prst="rect">
            <a:avLst/>
          </a:prstGeom>
          <a:noFill/>
          <a:ln w="19050" cap="rnd">
            <a:solidFill>
              <a:srgbClr val="6B6D85"/>
            </a:solidFill>
            <a:prstDash val="dash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p</a:t>
            </a:r>
            <a:endParaRPr lang="en-GB" sz="4400" dirty="0"/>
          </a:p>
        </p:txBody>
      </p:sp>
      <p:sp>
        <p:nvSpPr>
          <p:cNvPr id="23" name="Letter tile 23"/>
          <p:cNvSpPr/>
          <p:nvPr/>
        </p:nvSpPr>
        <p:spPr>
          <a:xfrm>
            <a:off x="5492344" y="5102352"/>
            <a:ext cx="822960" cy="822960"/>
          </a:xfrm>
          <a:prstGeom prst="rect">
            <a:avLst/>
          </a:prstGeom>
          <a:noFill/>
          <a:ln w="19050" cap="rnd">
            <a:solidFill>
              <a:srgbClr val="6B6D85"/>
            </a:solidFill>
            <a:prstDash val="dash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a</a:t>
            </a:r>
            <a:endParaRPr lang="en-GB" sz="4400" dirty="0"/>
          </a:p>
        </p:txBody>
      </p:sp>
      <p:sp>
        <p:nvSpPr>
          <p:cNvPr id="24" name="Letter tile 24"/>
          <p:cNvSpPr/>
          <p:nvPr/>
        </p:nvSpPr>
        <p:spPr>
          <a:xfrm>
            <a:off x="6443320" y="5102352"/>
            <a:ext cx="822960" cy="822960"/>
          </a:xfrm>
          <a:prstGeom prst="rect">
            <a:avLst/>
          </a:prstGeom>
          <a:noFill/>
          <a:ln w="19050" cap="rnd">
            <a:solidFill>
              <a:srgbClr val="6B6D85"/>
            </a:solidFill>
            <a:prstDash val="dash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g</a:t>
            </a:r>
            <a:endParaRPr lang="en-GB" sz="4400" dirty="0"/>
          </a:p>
        </p:txBody>
      </p:sp>
      <p:sp>
        <p:nvSpPr>
          <p:cNvPr id="25" name="Letter tile 25"/>
          <p:cNvSpPr/>
          <p:nvPr/>
        </p:nvSpPr>
        <p:spPr>
          <a:xfrm>
            <a:off x="7394296" y="5102352"/>
            <a:ext cx="822960" cy="822960"/>
          </a:xfrm>
          <a:prstGeom prst="rect">
            <a:avLst/>
          </a:prstGeom>
          <a:noFill/>
          <a:ln w="19050" cap="rnd">
            <a:solidFill>
              <a:srgbClr val="6B6D85"/>
            </a:solidFill>
            <a:prstDash val="dash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n</a:t>
            </a:r>
            <a:endParaRPr lang="en-GB" sz="4400" dirty="0"/>
          </a:p>
        </p:txBody>
      </p:sp>
      <p:sp>
        <p:nvSpPr>
          <p:cNvPr id="26" name="Letter tile 26"/>
          <p:cNvSpPr/>
          <p:nvPr/>
        </p:nvSpPr>
        <p:spPr>
          <a:xfrm>
            <a:off x="8345272" y="5102352"/>
            <a:ext cx="822960" cy="822960"/>
          </a:xfrm>
          <a:prstGeom prst="rect">
            <a:avLst/>
          </a:prstGeom>
          <a:noFill/>
          <a:ln w="19050" cap="rnd">
            <a:solidFill>
              <a:srgbClr val="6B6D85"/>
            </a:solidFill>
            <a:prstDash val="dash"/>
            <a:round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b="1" dirty="0">
                <a:solidFill>
                  <a:srgbClr val="2B2D42"/>
                </a:solidFill>
                <a:latin typeface="Comic Sans MS"/>
                <a:ea typeface="Comic Sans MS"/>
                <a:cs typeface="Comic Sans MS"/>
              </a:rPr>
              <a:t>s</a:t>
            </a:r>
            <a:endParaRPr lang="en-GB" sz="4400" dirty="0"/>
          </a:p>
        </p:txBody>
      </p:sp>
      <p:sp>
        <p:nvSpPr>
          <p:cNvPr id="27" name="Text 27"/>
          <p:cNvSpPr txBox="1"/>
          <p:nvPr/>
        </p:nvSpPr>
        <p:spPr>
          <a:xfrm>
            <a:off x="457200" y="6144768"/>
            <a:ext cx="898855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6B6D85"/>
                </a:solidFill>
                <a:latin typeface="Calibri"/>
                <a:ea typeface="Calibri"/>
                <a:cs typeface="Calibri"/>
              </a:rPr>
              <a:t>Grown-ups:</a:t>
            </a:r>
            <a:r>
              <a:rPr lang="en-GB" sz="1200" b="0" dirty="0">
                <a:solidFill>
                  <a:srgbClr val="6B6D85"/>
                </a:solidFill>
                <a:latin typeface="Calibri"/>
                <a:ea typeface="Calibri"/>
                <a:cs typeface="Calibri"/>
              </a:rPr>
              <a:t> say each sound as the letter goes in, then blend: c-a-t… cat!</a:t>
            </a:r>
            <a:endParaRPr lang="en-GB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BC Playground">
  <a:themeElements>
    <a:clrScheme name="ABC Playground">
      <a:dk1>
        <a:srgbClr val="2B2D42"/>
      </a:dk1>
      <a:lt1>
        <a:srgbClr val="FFFFFF"/>
      </a:lt1>
      <a:dk2>
        <a:srgbClr val="2B2D42"/>
      </a:dk2>
      <a:lt2>
        <a:srgbClr val="F4F4F8"/>
      </a:lt2>
      <a:accent1>
        <a:srgbClr val="4D96FF"/>
      </a:accent1>
      <a:accent2>
        <a:srgbClr val="FF6B6B"/>
      </a:accent2>
      <a:accent3>
        <a:srgbClr val="9B5DE5"/>
      </a:accent3>
      <a:accent4>
        <a:srgbClr val="F15BB5"/>
      </a:accent4>
      <a:accent5>
        <a:srgbClr val="2A9D8F"/>
      </a:accent5>
      <a:accent6>
        <a:srgbClr val="FFD93D"/>
      </a:accent6>
      <a:hlink>
        <a:srgbClr val="4D96FF"/>
      </a:hlink>
      <a:folHlink>
        <a:srgbClr val="9B5DE5"/>
      </a:folHlink>
    </a:clrScheme>
    <a:fontScheme name="ABC Playground">
      <a:majorFont>
        <a:latin typeface="Comic Sans MS"/>
        <a:ea typeface=""/>
        <a:cs typeface=""/>
      </a:majorFont>
      <a:minorFont>
        <a:latin typeface="Calibri"/>
        <a:ea typeface=""/>
        <a:cs typeface=""/>
      </a:minorFont>
    </a:fontScheme>
    <a:fmtScheme name="ABC Playgroun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A4 Paper (210x297 mm)</PresentationFormat>
  <Paragraphs>0</Paragraphs>
  <Slides>6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ABC Playground - Printable Games</dc:title>
  <dc:subject>Printable phonics activities for ages 4-7</dc:subject>
  <dc:creator>ABC Playground</dc:creator>
  <cp:lastModifiedBy>ABC Playground</cp:lastModifiedBy>
  <cp:revision>1</cp:revision>
  <dcterms:created xsi:type="dcterms:W3CDTF">2026-09-15T13:53:36Z</dcterms:created>
  <dcterms:modified xsi:type="dcterms:W3CDTF">2026-09-15T13:53:36Z</dcterms:modified>
</cp:coreProperties>
</file>